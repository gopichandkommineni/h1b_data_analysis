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hyperlink" Target="https://www.kaggle.com/nsharan/h-1b-visa" TargetMode="Externa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nsharan/h-1b-visa" TargetMode="External"/><Relationship Id="rId7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BE9900-D0AA-455B-8FF1-769641390E0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8F59C8E-DA44-44CD-9726-E2B5FF3388C3}">
      <dgm:prSet/>
      <dgm:spPr/>
      <dgm:t>
        <a:bodyPr/>
        <a:lstStyle/>
        <a:p>
          <a:r>
            <a:rPr lang="en-IN"/>
            <a:t>The Dataset is taken from Kaggle. </a:t>
          </a:r>
          <a:r>
            <a:rPr lang="en-IN">
              <a:hlinkClick xmlns:r="http://schemas.openxmlformats.org/officeDocument/2006/relationships" r:id="rId1"/>
            </a:rPr>
            <a:t>https://www.kaggle.com/nsharan/h-1b-visa</a:t>
          </a:r>
          <a:endParaRPr lang="en-US"/>
        </a:p>
      </dgm:t>
    </dgm:pt>
    <dgm:pt modelId="{ED29CAC3-5FA0-42BC-AC48-715C7221FBF2}" type="parTrans" cxnId="{A661AE44-4797-4C17-B9C3-9C0FE7F79BDE}">
      <dgm:prSet/>
      <dgm:spPr/>
      <dgm:t>
        <a:bodyPr/>
        <a:lstStyle/>
        <a:p>
          <a:endParaRPr lang="en-US"/>
        </a:p>
      </dgm:t>
    </dgm:pt>
    <dgm:pt modelId="{CF6FBEAD-76F8-43E3-9D34-4FA81002D23E}" type="sibTrans" cxnId="{A661AE44-4797-4C17-B9C3-9C0FE7F79BDE}">
      <dgm:prSet/>
      <dgm:spPr/>
      <dgm:t>
        <a:bodyPr/>
        <a:lstStyle/>
        <a:p>
          <a:endParaRPr lang="en-US"/>
        </a:p>
      </dgm:t>
    </dgm:pt>
    <dgm:pt modelId="{34A3C0AC-9D71-406E-8283-0AF6E2685052}">
      <dgm:prSet/>
      <dgm:spPr/>
      <dgm:t>
        <a:bodyPr/>
        <a:lstStyle/>
        <a:p>
          <a:r>
            <a:rPr lang="en-IN"/>
            <a:t>The Dataset has 3 million </a:t>
          </a:r>
          <a:br>
            <a:rPr lang="en-IN"/>
          </a:br>
          <a:r>
            <a:rPr lang="en-IN"/>
            <a:t>Records</a:t>
          </a:r>
          <a:endParaRPr lang="en-US"/>
        </a:p>
      </dgm:t>
    </dgm:pt>
    <dgm:pt modelId="{C07206E1-7751-48B3-92DE-43ACDF39F294}" type="parTrans" cxnId="{2570B40D-52E6-4375-BB5B-E119532CABCD}">
      <dgm:prSet/>
      <dgm:spPr/>
      <dgm:t>
        <a:bodyPr/>
        <a:lstStyle/>
        <a:p>
          <a:endParaRPr lang="en-US"/>
        </a:p>
      </dgm:t>
    </dgm:pt>
    <dgm:pt modelId="{1153C3CE-CCE9-4B99-93DD-D8DC04019B9B}" type="sibTrans" cxnId="{2570B40D-52E6-4375-BB5B-E119532CABCD}">
      <dgm:prSet/>
      <dgm:spPr/>
      <dgm:t>
        <a:bodyPr/>
        <a:lstStyle/>
        <a:p>
          <a:endParaRPr lang="en-US"/>
        </a:p>
      </dgm:t>
    </dgm:pt>
    <dgm:pt modelId="{1CDD3FE7-4CED-4C6C-867E-CF56609C9A56}">
      <dgm:prSet/>
      <dgm:spPr/>
      <dgm:t>
        <a:bodyPr/>
        <a:lstStyle/>
        <a:p>
          <a:r>
            <a:rPr lang="en-IN"/>
            <a:t>Dataset spans petitions over 5 years from 2011 - 2016</a:t>
          </a:r>
          <a:endParaRPr lang="en-US"/>
        </a:p>
      </dgm:t>
    </dgm:pt>
    <dgm:pt modelId="{4A4F05E1-4F15-4258-A25E-8DABD5B1D695}" type="parTrans" cxnId="{615368C5-99B2-4BA1-BC32-A2825169C791}">
      <dgm:prSet/>
      <dgm:spPr/>
      <dgm:t>
        <a:bodyPr/>
        <a:lstStyle/>
        <a:p>
          <a:endParaRPr lang="en-US"/>
        </a:p>
      </dgm:t>
    </dgm:pt>
    <dgm:pt modelId="{E85D4891-2386-421D-9D26-AFB4CBCAAE1D}" type="sibTrans" cxnId="{615368C5-99B2-4BA1-BC32-A2825169C791}">
      <dgm:prSet/>
      <dgm:spPr/>
      <dgm:t>
        <a:bodyPr/>
        <a:lstStyle/>
        <a:p>
          <a:endParaRPr lang="en-US"/>
        </a:p>
      </dgm:t>
    </dgm:pt>
    <dgm:pt modelId="{B5A6AC2E-AAAE-4ADE-B5C2-3EEF070D0F6D}" type="pres">
      <dgm:prSet presAssocID="{B1BE9900-D0AA-455B-8FF1-769641390E0C}" presName="root" presStyleCnt="0">
        <dgm:presLayoutVars>
          <dgm:dir/>
          <dgm:resizeHandles val="exact"/>
        </dgm:presLayoutVars>
      </dgm:prSet>
      <dgm:spPr/>
    </dgm:pt>
    <dgm:pt modelId="{AF7D2F2F-B41E-40FE-8AFF-978101D81776}" type="pres">
      <dgm:prSet presAssocID="{78F59C8E-DA44-44CD-9726-E2B5FF3388C3}" presName="compNode" presStyleCnt="0"/>
      <dgm:spPr/>
    </dgm:pt>
    <dgm:pt modelId="{35D2C9C0-01BD-498D-A2C0-885D170C2641}" type="pres">
      <dgm:prSet presAssocID="{78F59C8E-DA44-44CD-9726-E2B5FF3388C3}" presName="bgRect" presStyleLbl="bgShp" presStyleIdx="0" presStyleCnt="3"/>
      <dgm:spPr/>
    </dgm:pt>
    <dgm:pt modelId="{F698F74D-A0D2-42B7-BBC4-D488E8227D4D}" type="pres">
      <dgm:prSet presAssocID="{78F59C8E-DA44-44CD-9726-E2B5FF3388C3}" presName="iconRect" presStyleLbl="node1" presStyleIdx="0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BCE1A783-B2D4-41E8-A3F6-D798B5BE992F}" type="pres">
      <dgm:prSet presAssocID="{78F59C8E-DA44-44CD-9726-E2B5FF3388C3}" presName="spaceRect" presStyleCnt="0"/>
      <dgm:spPr/>
    </dgm:pt>
    <dgm:pt modelId="{8FCD2A01-92AB-462F-8542-CF9D42572E56}" type="pres">
      <dgm:prSet presAssocID="{78F59C8E-DA44-44CD-9726-E2B5FF3388C3}" presName="parTx" presStyleLbl="revTx" presStyleIdx="0" presStyleCnt="3">
        <dgm:presLayoutVars>
          <dgm:chMax val="0"/>
          <dgm:chPref val="0"/>
        </dgm:presLayoutVars>
      </dgm:prSet>
      <dgm:spPr/>
    </dgm:pt>
    <dgm:pt modelId="{A33D06C0-9A76-4CAE-8EE1-C00D7DB6E590}" type="pres">
      <dgm:prSet presAssocID="{CF6FBEAD-76F8-43E3-9D34-4FA81002D23E}" presName="sibTrans" presStyleCnt="0"/>
      <dgm:spPr/>
    </dgm:pt>
    <dgm:pt modelId="{30ADCD4E-BC24-42FF-9C64-6854609CA3DD}" type="pres">
      <dgm:prSet presAssocID="{34A3C0AC-9D71-406E-8283-0AF6E2685052}" presName="compNode" presStyleCnt="0"/>
      <dgm:spPr/>
    </dgm:pt>
    <dgm:pt modelId="{6383094D-C512-4F2A-95F8-3C77B0405CE7}" type="pres">
      <dgm:prSet presAssocID="{34A3C0AC-9D71-406E-8283-0AF6E2685052}" presName="bgRect" presStyleLbl="bgShp" presStyleIdx="1" presStyleCnt="3"/>
      <dgm:spPr/>
    </dgm:pt>
    <dgm:pt modelId="{A9BBB3E5-115A-4185-8AC5-EA9BE264C589}" type="pres">
      <dgm:prSet presAssocID="{34A3C0AC-9D71-406E-8283-0AF6E2685052}" presName="iconRect" presStyleLbl="nod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94734DC-0554-4AE7-9B70-ED6234BC5110}" type="pres">
      <dgm:prSet presAssocID="{34A3C0AC-9D71-406E-8283-0AF6E2685052}" presName="spaceRect" presStyleCnt="0"/>
      <dgm:spPr/>
    </dgm:pt>
    <dgm:pt modelId="{BD7C82D6-96A1-41EE-9F7C-EC26DBCA8577}" type="pres">
      <dgm:prSet presAssocID="{34A3C0AC-9D71-406E-8283-0AF6E2685052}" presName="parTx" presStyleLbl="revTx" presStyleIdx="1" presStyleCnt="3">
        <dgm:presLayoutVars>
          <dgm:chMax val="0"/>
          <dgm:chPref val="0"/>
        </dgm:presLayoutVars>
      </dgm:prSet>
      <dgm:spPr/>
    </dgm:pt>
    <dgm:pt modelId="{00B1CA10-1313-46D8-A680-70B74E2D6E69}" type="pres">
      <dgm:prSet presAssocID="{1153C3CE-CCE9-4B99-93DD-D8DC04019B9B}" presName="sibTrans" presStyleCnt="0"/>
      <dgm:spPr/>
    </dgm:pt>
    <dgm:pt modelId="{B7F097EE-4E55-4327-AC25-DA9D0E3A0A42}" type="pres">
      <dgm:prSet presAssocID="{1CDD3FE7-4CED-4C6C-867E-CF56609C9A56}" presName="compNode" presStyleCnt="0"/>
      <dgm:spPr/>
    </dgm:pt>
    <dgm:pt modelId="{CBE66472-0573-433A-92D0-B9F51B075B48}" type="pres">
      <dgm:prSet presAssocID="{1CDD3FE7-4CED-4C6C-867E-CF56609C9A56}" presName="bgRect" presStyleLbl="bgShp" presStyleIdx="2" presStyleCnt="3"/>
      <dgm:spPr/>
    </dgm:pt>
    <dgm:pt modelId="{BCFE8B9C-08CD-473A-96C2-E91C9D360651}" type="pres">
      <dgm:prSet presAssocID="{1CDD3FE7-4CED-4C6C-867E-CF56609C9A56}" presName="iconRect" presStyleLbl="nod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WithLightningAndRain"/>
        </a:ext>
      </dgm:extLst>
    </dgm:pt>
    <dgm:pt modelId="{5111F625-F1E1-4CE1-B32F-B744851E251B}" type="pres">
      <dgm:prSet presAssocID="{1CDD3FE7-4CED-4C6C-867E-CF56609C9A56}" presName="spaceRect" presStyleCnt="0"/>
      <dgm:spPr/>
    </dgm:pt>
    <dgm:pt modelId="{EE51D422-0C86-41C2-91F6-B8E552C7B051}" type="pres">
      <dgm:prSet presAssocID="{1CDD3FE7-4CED-4C6C-867E-CF56609C9A5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570B40D-52E6-4375-BB5B-E119532CABCD}" srcId="{B1BE9900-D0AA-455B-8FF1-769641390E0C}" destId="{34A3C0AC-9D71-406E-8283-0AF6E2685052}" srcOrd="1" destOrd="0" parTransId="{C07206E1-7751-48B3-92DE-43ACDF39F294}" sibTransId="{1153C3CE-CCE9-4B99-93DD-D8DC04019B9B}"/>
    <dgm:cxn modelId="{2D081539-A2B7-47D3-A505-5E131075EB6B}" type="presOf" srcId="{78F59C8E-DA44-44CD-9726-E2B5FF3388C3}" destId="{8FCD2A01-92AB-462F-8542-CF9D42572E56}" srcOrd="0" destOrd="0" presId="urn:microsoft.com/office/officeart/2018/2/layout/IconVerticalSolidList"/>
    <dgm:cxn modelId="{A661AE44-4797-4C17-B9C3-9C0FE7F79BDE}" srcId="{B1BE9900-D0AA-455B-8FF1-769641390E0C}" destId="{78F59C8E-DA44-44CD-9726-E2B5FF3388C3}" srcOrd="0" destOrd="0" parTransId="{ED29CAC3-5FA0-42BC-AC48-715C7221FBF2}" sibTransId="{CF6FBEAD-76F8-43E3-9D34-4FA81002D23E}"/>
    <dgm:cxn modelId="{9912AB91-C63B-4241-ADF1-37EB05535382}" type="presOf" srcId="{34A3C0AC-9D71-406E-8283-0AF6E2685052}" destId="{BD7C82D6-96A1-41EE-9F7C-EC26DBCA8577}" srcOrd="0" destOrd="0" presId="urn:microsoft.com/office/officeart/2018/2/layout/IconVerticalSolidList"/>
    <dgm:cxn modelId="{615368C5-99B2-4BA1-BC32-A2825169C791}" srcId="{B1BE9900-D0AA-455B-8FF1-769641390E0C}" destId="{1CDD3FE7-4CED-4C6C-867E-CF56609C9A56}" srcOrd="2" destOrd="0" parTransId="{4A4F05E1-4F15-4258-A25E-8DABD5B1D695}" sibTransId="{E85D4891-2386-421D-9D26-AFB4CBCAAE1D}"/>
    <dgm:cxn modelId="{DC18D3CB-C128-465E-8CDD-EF185B05C30C}" type="presOf" srcId="{1CDD3FE7-4CED-4C6C-867E-CF56609C9A56}" destId="{EE51D422-0C86-41C2-91F6-B8E552C7B051}" srcOrd="0" destOrd="0" presId="urn:microsoft.com/office/officeart/2018/2/layout/IconVerticalSolidList"/>
    <dgm:cxn modelId="{D3F24AE4-8B5A-4681-9837-7C6F114B898C}" type="presOf" srcId="{B1BE9900-D0AA-455B-8FF1-769641390E0C}" destId="{B5A6AC2E-AAAE-4ADE-B5C2-3EEF070D0F6D}" srcOrd="0" destOrd="0" presId="urn:microsoft.com/office/officeart/2018/2/layout/IconVerticalSolidList"/>
    <dgm:cxn modelId="{403726BB-A52D-496E-8D47-76A65CC11236}" type="presParOf" srcId="{B5A6AC2E-AAAE-4ADE-B5C2-3EEF070D0F6D}" destId="{AF7D2F2F-B41E-40FE-8AFF-978101D81776}" srcOrd="0" destOrd="0" presId="urn:microsoft.com/office/officeart/2018/2/layout/IconVerticalSolidList"/>
    <dgm:cxn modelId="{3D0416F5-39A1-4A25-BA31-C89A830B2557}" type="presParOf" srcId="{AF7D2F2F-B41E-40FE-8AFF-978101D81776}" destId="{35D2C9C0-01BD-498D-A2C0-885D170C2641}" srcOrd="0" destOrd="0" presId="urn:microsoft.com/office/officeart/2018/2/layout/IconVerticalSolidList"/>
    <dgm:cxn modelId="{13BCBBB0-6419-46EC-A80C-A40860E87F5F}" type="presParOf" srcId="{AF7D2F2F-B41E-40FE-8AFF-978101D81776}" destId="{F698F74D-A0D2-42B7-BBC4-D488E8227D4D}" srcOrd="1" destOrd="0" presId="urn:microsoft.com/office/officeart/2018/2/layout/IconVerticalSolidList"/>
    <dgm:cxn modelId="{12ABF231-4CC9-42DD-998C-8B668BB6D747}" type="presParOf" srcId="{AF7D2F2F-B41E-40FE-8AFF-978101D81776}" destId="{BCE1A783-B2D4-41E8-A3F6-D798B5BE992F}" srcOrd="2" destOrd="0" presId="urn:microsoft.com/office/officeart/2018/2/layout/IconVerticalSolidList"/>
    <dgm:cxn modelId="{D0885D7E-91B6-43D0-B182-C80A0930CE22}" type="presParOf" srcId="{AF7D2F2F-B41E-40FE-8AFF-978101D81776}" destId="{8FCD2A01-92AB-462F-8542-CF9D42572E56}" srcOrd="3" destOrd="0" presId="urn:microsoft.com/office/officeart/2018/2/layout/IconVerticalSolidList"/>
    <dgm:cxn modelId="{DE0551F9-AF2D-465E-A12C-7BF1E368BED0}" type="presParOf" srcId="{B5A6AC2E-AAAE-4ADE-B5C2-3EEF070D0F6D}" destId="{A33D06C0-9A76-4CAE-8EE1-C00D7DB6E590}" srcOrd="1" destOrd="0" presId="urn:microsoft.com/office/officeart/2018/2/layout/IconVerticalSolidList"/>
    <dgm:cxn modelId="{F5028CCB-4580-46D0-87EC-C4415BBB1AB1}" type="presParOf" srcId="{B5A6AC2E-AAAE-4ADE-B5C2-3EEF070D0F6D}" destId="{30ADCD4E-BC24-42FF-9C64-6854609CA3DD}" srcOrd="2" destOrd="0" presId="urn:microsoft.com/office/officeart/2018/2/layout/IconVerticalSolidList"/>
    <dgm:cxn modelId="{5C9A5C9E-0E44-4CF2-BEA4-72F7ACA99694}" type="presParOf" srcId="{30ADCD4E-BC24-42FF-9C64-6854609CA3DD}" destId="{6383094D-C512-4F2A-95F8-3C77B0405CE7}" srcOrd="0" destOrd="0" presId="urn:microsoft.com/office/officeart/2018/2/layout/IconVerticalSolidList"/>
    <dgm:cxn modelId="{EBFEB99E-BD54-447E-B236-A95399E8D449}" type="presParOf" srcId="{30ADCD4E-BC24-42FF-9C64-6854609CA3DD}" destId="{A9BBB3E5-115A-4185-8AC5-EA9BE264C589}" srcOrd="1" destOrd="0" presId="urn:microsoft.com/office/officeart/2018/2/layout/IconVerticalSolidList"/>
    <dgm:cxn modelId="{2B8E228C-F6DA-4BB6-9061-F2AE82E8A297}" type="presParOf" srcId="{30ADCD4E-BC24-42FF-9C64-6854609CA3DD}" destId="{D94734DC-0554-4AE7-9B70-ED6234BC5110}" srcOrd="2" destOrd="0" presId="urn:microsoft.com/office/officeart/2018/2/layout/IconVerticalSolidList"/>
    <dgm:cxn modelId="{0D790B01-1EDB-4E65-94DA-7B39A9924934}" type="presParOf" srcId="{30ADCD4E-BC24-42FF-9C64-6854609CA3DD}" destId="{BD7C82D6-96A1-41EE-9F7C-EC26DBCA8577}" srcOrd="3" destOrd="0" presId="urn:microsoft.com/office/officeart/2018/2/layout/IconVerticalSolidList"/>
    <dgm:cxn modelId="{E6BE6DF6-0FD6-46D5-972A-B34BCDABC36C}" type="presParOf" srcId="{B5A6AC2E-AAAE-4ADE-B5C2-3EEF070D0F6D}" destId="{00B1CA10-1313-46D8-A680-70B74E2D6E69}" srcOrd="3" destOrd="0" presId="urn:microsoft.com/office/officeart/2018/2/layout/IconVerticalSolidList"/>
    <dgm:cxn modelId="{35560F2B-7F16-46AE-A262-881A16FBCAE5}" type="presParOf" srcId="{B5A6AC2E-AAAE-4ADE-B5C2-3EEF070D0F6D}" destId="{B7F097EE-4E55-4327-AC25-DA9D0E3A0A42}" srcOrd="4" destOrd="0" presId="urn:microsoft.com/office/officeart/2018/2/layout/IconVerticalSolidList"/>
    <dgm:cxn modelId="{A4DFBAF8-0726-4FF0-9F4B-FBAF540FC059}" type="presParOf" srcId="{B7F097EE-4E55-4327-AC25-DA9D0E3A0A42}" destId="{CBE66472-0573-433A-92D0-B9F51B075B48}" srcOrd="0" destOrd="0" presId="urn:microsoft.com/office/officeart/2018/2/layout/IconVerticalSolidList"/>
    <dgm:cxn modelId="{47B58A2F-150B-4C3B-8B2A-71773CB4AF1A}" type="presParOf" srcId="{B7F097EE-4E55-4327-AC25-DA9D0E3A0A42}" destId="{BCFE8B9C-08CD-473A-96C2-E91C9D360651}" srcOrd="1" destOrd="0" presId="urn:microsoft.com/office/officeart/2018/2/layout/IconVerticalSolidList"/>
    <dgm:cxn modelId="{3866DD06-63E0-4639-B8F6-A693EF8D7340}" type="presParOf" srcId="{B7F097EE-4E55-4327-AC25-DA9D0E3A0A42}" destId="{5111F625-F1E1-4CE1-B32F-B744851E251B}" srcOrd="2" destOrd="0" presId="urn:microsoft.com/office/officeart/2018/2/layout/IconVerticalSolidList"/>
    <dgm:cxn modelId="{9DF75EDF-7930-4E0B-B4BB-8D6AABF3DE9C}" type="presParOf" srcId="{B7F097EE-4E55-4327-AC25-DA9D0E3A0A42}" destId="{EE51D422-0C86-41C2-91F6-B8E552C7B05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BFBF58-8405-4D84-AE46-1A335F1A742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6E0C360-A4F8-42ED-BDC3-9A38155DD2C5}">
      <dgm:prSet/>
      <dgm:spPr/>
      <dgm:t>
        <a:bodyPr/>
        <a:lstStyle/>
        <a:p>
          <a:r>
            <a:rPr lang="en-IN" dirty="0"/>
            <a:t>Y </a:t>
          </a:r>
          <a:r>
            <a:rPr lang="en-IN" dirty="0">
              <a:solidFill>
                <a:srgbClr val="FF0000"/>
              </a:solidFill>
            </a:rPr>
            <a:t>2576111</a:t>
          </a:r>
          <a:endParaRPr lang="en-US" dirty="0">
            <a:solidFill>
              <a:srgbClr val="FF0000"/>
            </a:solidFill>
          </a:endParaRPr>
        </a:p>
      </dgm:t>
    </dgm:pt>
    <dgm:pt modelId="{B15908D4-E60F-449B-ACB9-D4FE8709E30E}" type="parTrans" cxnId="{060069CA-7BD0-4C2D-B3C9-768C79D4AB0C}">
      <dgm:prSet/>
      <dgm:spPr/>
      <dgm:t>
        <a:bodyPr/>
        <a:lstStyle/>
        <a:p>
          <a:endParaRPr lang="en-US"/>
        </a:p>
      </dgm:t>
    </dgm:pt>
    <dgm:pt modelId="{20490FBD-68B5-4884-BF4E-61C70FFB437F}" type="sibTrans" cxnId="{060069CA-7BD0-4C2D-B3C9-768C79D4AB0C}">
      <dgm:prSet/>
      <dgm:spPr/>
      <dgm:t>
        <a:bodyPr/>
        <a:lstStyle/>
        <a:p>
          <a:endParaRPr lang="en-US"/>
        </a:p>
      </dgm:t>
    </dgm:pt>
    <dgm:pt modelId="{B3B4AE03-8B29-4602-A6BB-F21674DBC34C}">
      <dgm:prSet/>
      <dgm:spPr/>
      <dgm:t>
        <a:bodyPr/>
        <a:lstStyle/>
        <a:p>
          <a:r>
            <a:rPr lang="en-IN" dirty="0"/>
            <a:t>N </a:t>
          </a:r>
          <a:r>
            <a:rPr lang="en-IN" dirty="0">
              <a:solidFill>
                <a:srgbClr val="FF0000"/>
              </a:solidFill>
            </a:rPr>
            <a:t>426332</a:t>
          </a:r>
          <a:endParaRPr lang="en-US" dirty="0">
            <a:solidFill>
              <a:srgbClr val="FF0000"/>
            </a:solidFill>
          </a:endParaRPr>
        </a:p>
      </dgm:t>
    </dgm:pt>
    <dgm:pt modelId="{FCC496AE-16B4-4EDB-AC84-C1A89DE03D5D}" type="parTrans" cxnId="{6CC75F66-417B-4AD9-82A7-FF5E78D13E8D}">
      <dgm:prSet/>
      <dgm:spPr/>
      <dgm:t>
        <a:bodyPr/>
        <a:lstStyle/>
        <a:p>
          <a:endParaRPr lang="en-US"/>
        </a:p>
      </dgm:t>
    </dgm:pt>
    <dgm:pt modelId="{E55DC365-7AC6-4EE5-B3D0-0D965300B35D}" type="sibTrans" cxnId="{6CC75F66-417B-4AD9-82A7-FF5E78D13E8D}">
      <dgm:prSet/>
      <dgm:spPr/>
      <dgm:t>
        <a:bodyPr/>
        <a:lstStyle/>
        <a:p>
          <a:endParaRPr lang="en-US"/>
        </a:p>
      </dgm:t>
    </dgm:pt>
    <dgm:pt modelId="{495BFF16-AA00-4602-9F28-367641E114CF}" type="pres">
      <dgm:prSet presAssocID="{A0BFBF58-8405-4D84-AE46-1A335F1A742A}" presName="root" presStyleCnt="0">
        <dgm:presLayoutVars>
          <dgm:dir/>
          <dgm:resizeHandles val="exact"/>
        </dgm:presLayoutVars>
      </dgm:prSet>
      <dgm:spPr/>
    </dgm:pt>
    <dgm:pt modelId="{D6C30A57-84F8-4AD0-89DA-CCA224F8DC19}" type="pres">
      <dgm:prSet presAssocID="{66E0C360-A4F8-42ED-BDC3-9A38155DD2C5}" presName="compNode" presStyleCnt="0"/>
      <dgm:spPr/>
    </dgm:pt>
    <dgm:pt modelId="{ED034C84-C616-4C89-B43E-D232163F11DF}" type="pres">
      <dgm:prSet presAssocID="{66E0C360-A4F8-42ED-BDC3-9A38155DD2C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d Chime"/>
        </a:ext>
      </dgm:extLst>
    </dgm:pt>
    <dgm:pt modelId="{663EDDEC-510C-436D-909C-7C992BF9707B}" type="pres">
      <dgm:prSet presAssocID="{66E0C360-A4F8-42ED-BDC3-9A38155DD2C5}" presName="spaceRect" presStyleCnt="0"/>
      <dgm:spPr/>
    </dgm:pt>
    <dgm:pt modelId="{66824464-6EBC-478F-A929-F122A2719A35}" type="pres">
      <dgm:prSet presAssocID="{66E0C360-A4F8-42ED-BDC3-9A38155DD2C5}" presName="textRect" presStyleLbl="revTx" presStyleIdx="0" presStyleCnt="2">
        <dgm:presLayoutVars>
          <dgm:chMax val="1"/>
          <dgm:chPref val="1"/>
        </dgm:presLayoutVars>
      </dgm:prSet>
      <dgm:spPr/>
    </dgm:pt>
    <dgm:pt modelId="{E31CCDC4-B9C2-4F80-AE33-D64BFEF6D9DA}" type="pres">
      <dgm:prSet presAssocID="{20490FBD-68B5-4884-BF4E-61C70FFB437F}" presName="sibTrans" presStyleCnt="0"/>
      <dgm:spPr/>
    </dgm:pt>
    <dgm:pt modelId="{BA5B7F9D-C517-4595-8A80-77D49229CA2A}" type="pres">
      <dgm:prSet presAssocID="{B3B4AE03-8B29-4602-A6BB-F21674DBC34C}" presName="compNode" presStyleCnt="0"/>
      <dgm:spPr/>
    </dgm:pt>
    <dgm:pt modelId="{327EB24E-6393-4EBB-A4B9-EFBBAD7E9AE1}" type="pres">
      <dgm:prSet presAssocID="{B3B4AE03-8B29-4602-A6BB-F21674DBC34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mono"/>
        </a:ext>
      </dgm:extLst>
    </dgm:pt>
    <dgm:pt modelId="{FADDE2AB-A7FC-40AD-A8B7-5BE77D0299A9}" type="pres">
      <dgm:prSet presAssocID="{B3B4AE03-8B29-4602-A6BB-F21674DBC34C}" presName="spaceRect" presStyleCnt="0"/>
      <dgm:spPr/>
    </dgm:pt>
    <dgm:pt modelId="{170EA122-D82E-421D-ADAE-13B417C24B65}" type="pres">
      <dgm:prSet presAssocID="{B3B4AE03-8B29-4602-A6BB-F21674DBC34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469FB42-B62F-48AD-8204-7095BAC3F89C}" type="presOf" srcId="{A0BFBF58-8405-4D84-AE46-1A335F1A742A}" destId="{495BFF16-AA00-4602-9F28-367641E114CF}" srcOrd="0" destOrd="0" presId="urn:microsoft.com/office/officeart/2018/2/layout/IconLabelList"/>
    <dgm:cxn modelId="{6CC75F66-417B-4AD9-82A7-FF5E78D13E8D}" srcId="{A0BFBF58-8405-4D84-AE46-1A335F1A742A}" destId="{B3B4AE03-8B29-4602-A6BB-F21674DBC34C}" srcOrd="1" destOrd="0" parTransId="{FCC496AE-16B4-4EDB-AC84-C1A89DE03D5D}" sibTransId="{E55DC365-7AC6-4EE5-B3D0-0D965300B35D}"/>
    <dgm:cxn modelId="{D2F4CF51-FE1A-498D-A841-082B76BF21B1}" type="presOf" srcId="{B3B4AE03-8B29-4602-A6BB-F21674DBC34C}" destId="{170EA122-D82E-421D-ADAE-13B417C24B65}" srcOrd="0" destOrd="0" presId="urn:microsoft.com/office/officeart/2018/2/layout/IconLabelList"/>
    <dgm:cxn modelId="{7E7C74B6-6DAF-4F59-B508-CAA8F81250EF}" type="presOf" srcId="{66E0C360-A4F8-42ED-BDC3-9A38155DD2C5}" destId="{66824464-6EBC-478F-A929-F122A2719A35}" srcOrd="0" destOrd="0" presId="urn:microsoft.com/office/officeart/2018/2/layout/IconLabelList"/>
    <dgm:cxn modelId="{060069CA-7BD0-4C2D-B3C9-768C79D4AB0C}" srcId="{A0BFBF58-8405-4D84-AE46-1A335F1A742A}" destId="{66E0C360-A4F8-42ED-BDC3-9A38155DD2C5}" srcOrd="0" destOrd="0" parTransId="{B15908D4-E60F-449B-ACB9-D4FE8709E30E}" sibTransId="{20490FBD-68B5-4884-BF4E-61C70FFB437F}"/>
    <dgm:cxn modelId="{1C964E89-CDB8-4F47-A786-17AB4C05A082}" type="presParOf" srcId="{495BFF16-AA00-4602-9F28-367641E114CF}" destId="{D6C30A57-84F8-4AD0-89DA-CCA224F8DC19}" srcOrd="0" destOrd="0" presId="urn:microsoft.com/office/officeart/2018/2/layout/IconLabelList"/>
    <dgm:cxn modelId="{57F876A6-6AA6-496F-9225-09AFEA7B3D0D}" type="presParOf" srcId="{D6C30A57-84F8-4AD0-89DA-CCA224F8DC19}" destId="{ED034C84-C616-4C89-B43E-D232163F11DF}" srcOrd="0" destOrd="0" presId="urn:microsoft.com/office/officeart/2018/2/layout/IconLabelList"/>
    <dgm:cxn modelId="{32532D5A-F003-43FE-B2A8-8EB58651FDD0}" type="presParOf" srcId="{D6C30A57-84F8-4AD0-89DA-CCA224F8DC19}" destId="{663EDDEC-510C-436D-909C-7C992BF9707B}" srcOrd="1" destOrd="0" presId="urn:microsoft.com/office/officeart/2018/2/layout/IconLabelList"/>
    <dgm:cxn modelId="{3CFA1F14-8FA0-48F9-95E3-DB7BEDC59C86}" type="presParOf" srcId="{D6C30A57-84F8-4AD0-89DA-CCA224F8DC19}" destId="{66824464-6EBC-478F-A929-F122A2719A35}" srcOrd="2" destOrd="0" presId="urn:microsoft.com/office/officeart/2018/2/layout/IconLabelList"/>
    <dgm:cxn modelId="{EC3E1E6D-8B64-4759-940B-5E5F6D5920D2}" type="presParOf" srcId="{495BFF16-AA00-4602-9F28-367641E114CF}" destId="{E31CCDC4-B9C2-4F80-AE33-D64BFEF6D9DA}" srcOrd="1" destOrd="0" presId="urn:microsoft.com/office/officeart/2018/2/layout/IconLabelList"/>
    <dgm:cxn modelId="{167EC9F7-5E32-4AE8-BA06-8A26335BF2C0}" type="presParOf" srcId="{495BFF16-AA00-4602-9F28-367641E114CF}" destId="{BA5B7F9D-C517-4595-8A80-77D49229CA2A}" srcOrd="2" destOrd="0" presId="urn:microsoft.com/office/officeart/2018/2/layout/IconLabelList"/>
    <dgm:cxn modelId="{4386893E-5C64-414B-8A8A-FCDD3044BAFE}" type="presParOf" srcId="{BA5B7F9D-C517-4595-8A80-77D49229CA2A}" destId="{327EB24E-6393-4EBB-A4B9-EFBBAD7E9AE1}" srcOrd="0" destOrd="0" presId="urn:microsoft.com/office/officeart/2018/2/layout/IconLabelList"/>
    <dgm:cxn modelId="{A48474DC-C1EC-447D-AFF0-DB0D2CC3A6A8}" type="presParOf" srcId="{BA5B7F9D-C517-4595-8A80-77D49229CA2A}" destId="{FADDE2AB-A7FC-40AD-A8B7-5BE77D0299A9}" srcOrd="1" destOrd="0" presId="urn:microsoft.com/office/officeart/2018/2/layout/IconLabelList"/>
    <dgm:cxn modelId="{B47497D2-B0C7-4A31-A74C-D1EE06C8A01B}" type="presParOf" srcId="{BA5B7F9D-C517-4595-8A80-77D49229CA2A}" destId="{170EA122-D82E-421D-ADAE-13B417C24B6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F6B7FCA-603C-454A-9B70-418A4C3B2D1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0_3" csCatId="mainScheme" phldr="1"/>
      <dgm:spPr/>
      <dgm:t>
        <a:bodyPr/>
        <a:lstStyle/>
        <a:p>
          <a:endParaRPr lang="en-US"/>
        </a:p>
      </dgm:t>
    </dgm:pt>
    <dgm:pt modelId="{C188B029-4531-4650-9358-9E615E305BAA}">
      <dgm:prSet/>
      <dgm:spPr/>
      <dgm:t>
        <a:bodyPr/>
        <a:lstStyle/>
        <a:p>
          <a:pPr>
            <a:defRPr cap="all"/>
          </a:pPr>
          <a:r>
            <a:rPr lang="en-IN"/>
            <a:t>Decision Tree</a:t>
          </a:r>
          <a:endParaRPr lang="en-US"/>
        </a:p>
      </dgm:t>
    </dgm:pt>
    <dgm:pt modelId="{078F62B7-23D7-416B-987E-F01F9584636E}" type="parTrans" cxnId="{A17B4AFF-51F7-4241-A99E-673E43500835}">
      <dgm:prSet/>
      <dgm:spPr/>
      <dgm:t>
        <a:bodyPr/>
        <a:lstStyle/>
        <a:p>
          <a:endParaRPr lang="en-US"/>
        </a:p>
      </dgm:t>
    </dgm:pt>
    <dgm:pt modelId="{35AEA90C-4FE0-4732-9655-D141009F73C5}" type="sibTrans" cxnId="{A17B4AFF-51F7-4241-A99E-673E43500835}">
      <dgm:prSet/>
      <dgm:spPr/>
      <dgm:t>
        <a:bodyPr/>
        <a:lstStyle/>
        <a:p>
          <a:endParaRPr lang="en-US"/>
        </a:p>
      </dgm:t>
    </dgm:pt>
    <dgm:pt modelId="{F7A36173-8644-44E3-AC7B-3F338364B0F7}">
      <dgm:prSet/>
      <dgm:spPr/>
      <dgm:t>
        <a:bodyPr/>
        <a:lstStyle/>
        <a:p>
          <a:pPr>
            <a:defRPr cap="all"/>
          </a:pPr>
          <a:r>
            <a:rPr lang="en-IN"/>
            <a:t>Random Forest</a:t>
          </a:r>
          <a:endParaRPr lang="en-US"/>
        </a:p>
      </dgm:t>
    </dgm:pt>
    <dgm:pt modelId="{0608170A-CEBE-40E0-83D4-810C94FA9496}" type="parTrans" cxnId="{CBFD4DD3-23FF-4074-8244-9875C64D4755}">
      <dgm:prSet/>
      <dgm:spPr/>
      <dgm:t>
        <a:bodyPr/>
        <a:lstStyle/>
        <a:p>
          <a:endParaRPr lang="en-US"/>
        </a:p>
      </dgm:t>
    </dgm:pt>
    <dgm:pt modelId="{33C28119-3E20-4EE7-8C7F-ED63AD521756}" type="sibTrans" cxnId="{CBFD4DD3-23FF-4074-8244-9875C64D4755}">
      <dgm:prSet/>
      <dgm:spPr/>
      <dgm:t>
        <a:bodyPr/>
        <a:lstStyle/>
        <a:p>
          <a:endParaRPr lang="en-US"/>
        </a:p>
      </dgm:t>
    </dgm:pt>
    <dgm:pt modelId="{649539E6-DDFF-4175-893D-B604C6FAC63B}">
      <dgm:prSet/>
      <dgm:spPr/>
      <dgm:t>
        <a:bodyPr/>
        <a:lstStyle/>
        <a:p>
          <a:pPr>
            <a:defRPr cap="all"/>
          </a:pPr>
          <a:r>
            <a:rPr lang="en-IN"/>
            <a:t>Neural Net</a:t>
          </a:r>
          <a:endParaRPr lang="en-US"/>
        </a:p>
      </dgm:t>
    </dgm:pt>
    <dgm:pt modelId="{85E97101-F6B7-4DBF-97D7-D87CE66823D0}" type="parTrans" cxnId="{5EFA1DBB-FD74-455B-8D31-1915A9DBC4E7}">
      <dgm:prSet/>
      <dgm:spPr/>
      <dgm:t>
        <a:bodyPr/>
        <a:lstStyle/>
        <a:p>
          <a:endParaRPr lang="en-US"/>
        </a:p>
      </dgm:t>
    </dgm:pt>
    <dgm:pt modelId="{C0060846-A2BB-4349-883C-02D2D30B6A85}" type="sibTrans" cxnId="{5EFA1DBB-FD74-455B-8D31-1915A9DBC4E7}">
      <dgm:prSet/>
      <dgm:spPr/>
      <dgm:t>
        <a:bodyPr/>
        <a:lstStyle/>
        <a:p>
          <a:endParaRPr lang="en-US"/>
        </a:p>
      </dgm:t>
    </dgm:pt>
    <dgm:pt modelId="{7FE937F3-9481-4B0E-B3FF-55CBBBBF160C}">
      <dgm:prSet/>
      <dgm:spPr/>
      <dgm:t>
        <a:bodyPr/>
        <a:lstStyle/>
        <a:p>
          <a:pPr>
            <a:defRPr cap="all"/>
          </a:pPr>
          <a:r>
            <a:rPr lang="en-IN"/>
            <a:t>AdaBoost</a:t>
          </a:r>
          <a:endParaRPr lang="en-US"/>
        </a:p>
      </dgm:t>
    </dgm:pt>
    <dgm:pt modelId="{ED1B63BE-470C-4DCE-93AE-164E45775CD2}" type="parTrans" cxnId="{B944CA76-4EB3-4593-B76A-C32B5F06308F}">
      <dgm:prSet/>
      <dgm:spPr/>
      <dgm:t>
        <a:bodyPr/>
        <a:lstStyle/>
        <a:p>
          <a:endParaRPr lang="en-US"/>
        </a:p>
      </dgm:t>
    </dgm:pt>
    <dgm:pt modelId="{EBA6829B-331B-4181-8592-733D034A59C1}" type="sibTrans" cxnId="{B944CA76-4EB3-4593-B76A-C32B5F06308F}">
      <dgm:prSet/>
      <dgm:spPr/>
      <dgm:t>
        <a:bodyPr/>
        <a:lstStyle/>
        <a:p>
          <a:endParaRPr lang="en-US"/>
        </a:p>
      </dgm:t>
    </dgm:pt>
    <dgm:pt modelId="{3AE15B43-0DE7-4D80-841E-C949660943E1}">
      <dgm:prSet/>
      <dgm:spPr/>
      <dgm:t>
        <a:bodyPr/>
        <a:lstStyle/>
        <a:p>
          <a:pPr>
            <a:defRPr cap="all"/>
          </a:pPr>
          <a:r>
            <a:rPr lang="en-IN"/>
            <a:t>Naïve Bayes</a:t>
          </a:r>
          <a:endParaRPr lang="en-US"/>
        </a:p>
      </dgm:t>
    </dgm:pt>
    <dgm:pt modelId="{0FEE33CD-C341-44A1-9407-36984A61A5A4}" type="parTrans" cxnId="{F88E2AC8-34EF-45E5-B6DE-82437A36FD3C}">
      <dgm:prSet/>
      <dgm:spPr/>
      <dgm:t>
        <a:bodyPr/>
        <a:lstStyle/>
        <a:p>
          <a:endParaRPr lang="en-US"/>
        </a:p>
      </dgm:t>
    </dgm:pt>
    <dgm:pt modelId="{7CAABAB4-678C-46AE-85E3-AACA0A695294}" type="sibTrans" cxnId="{F88E2AC8-34EF-45E5-B6DE-82437A36FD3C}">
      <dgm:prSet/>
      <dgm:spPr/>
      <dgm:t>
        <a:bodyPr/>
        <a:lstStyle/>
        <a:p>
          <a:endParaRPr lang="en-US"/>
        </a:p>
      </dgm:t>
    </dgm:pt>
    <dgm:pt modelId="{D4AC29C5-37F1-4444-90E8-CA105448240B}">
      <dgm:prSet/>
      <dgm:spPr/>
      <dgm:t>
        <a:bodyPr/>
        <a:lstStyle/>
        <a:p>
          <a:pPr>
            <a:defRPr cap="all"/>
          </a:pPr>
          <a:r>
            <a:rPr lang="en-IN"/>
            <a:t>SVM</a:t>
          </a:r>
          <a:endParaRPr lang="en-US"/>
        </a:p>
      </dgm:t>
    </dgm:pt>
    <dgm:pt modelId="{0516BDB8-5F50-41B2-8EA4-354F74A193AA}" type="parTrans" cxnId="{EDC918A5-3E73-45A1-9E67-A2D4B1E9C053}">
      <dgm:prSet/>
      <dgm:spPr/>
      <dgm:t>
        <a:bodyPr/>
        <a:lstStyle/>
        <a:p>
          <a:endParaRPr lang="en-US"/>
        </a:p>
      </dgm:t>
    </dgm:pt>
    <dgm:pt modelId="{CE6F0B7B-122A-4015-828B-2A17EADE01CA}" type="sibTrans" cxnId="{EDC918A5-3E73-45A1-9E67-A2D4B1E9C053}">
      <dgm:prSet/>
      <dgm:spPr/>
      <dgm:t>
        <a:bodyPr/>
        <a:lstStyle/>
        <a:p>
          <a:endParaRPr lang="en-US"/>
        </a:p>
      </dgm:t>
    </dgm:pt>
    <dgm:pt modelId="{E78678AE-9A55-487B-8CD7-7372E97B67B3}">
      <dgm:prSet/>
      <dgm:spPr/>
      <dgm:t>
        <a:bodyPr/>
        <a:lstStyle/>
        <a:p>
          <a:pPr>
            <a:defRPr cap="all"/>
          </a:pPr>
          <a:r>
            <a:rPr lang="en-IN"/>
            <a:t>Logistic</a:t>
          </a:r>
          <a:endParaRPr lang="en-US"/>
        </a:p>
      </dgm:t>
    </dgm:pt>
    <dgm:pt modelId="{83249063-9EE0-47DD-9235-BCA099547C83}" type="parTrans" cxnId="{F42D342D-3AE6-4E8F-82F8-60EB64EC4E61}">
      <dgm:prSet/>
      <dgm:spPr/>
      <dgm:t>
        <a:bodyPr/>
        <a:lstStyle/>
        <a:p>
          <a:endParaRPr lang="en-US"/>
        </a:p>
      </dgm:t>
    </dgm:pt>
    <dgm:pt modelId="{D968071B-4550-4D18-AF76-0504B6C7D0AC}" type="sibTrans" cxnId="{F42D342D-3AE6-4E8F-82F8-60EB64EC4E61}">
      <dgm:prSet/>
      <dgm:spPr/>
      <dgm:t>
        <a:bodyPr/>
        <a:lstStyle/>
        <a:p>
          <a:endParaRPr lang="en-US"/>
        </a:p>
      </dgm:t>
    </dgm:pt>
    <dgm:pt modelId="{40F3019A-3595-4CE9-A7D2-89E4E9963172}" type="pres">
      <dgm:prSet presAssocID="{7F6B7FCA-603C-454A-9B70-418A4C3B2D11}" presName="root" presStyleCnt="0">
        <dgm:presLayoutVars>
          <dgm:dir/>
          <dgm:resizeHandles val="exact"/>
        </dgm:presLayoutVars>
      </dgm:prSet>
      <dgm:spPr/>
    </dgm:pt>
    <dgm:pt modelId="{89280370-D88F-492A-BE70-E80DEEE22923}" type="pres">
      <dgm:prSet presAssocID="{C188B029-4531-4650-9358-9E615E305BAA}" presName="compNode" presStyleCnt="0"/>
      <dgm:spPr/>
    </dgm:pt>
    <dgm:pt modelId="{EF22C8BF-4476-49CA-B72D-619ACD3DAE51}" type="pres">
      <dgm:prSet presAssocID="{C188B029-4531-4650-9358-9E615E305BAA}" presName="iconBgRect" presStyleLbl="bgShp" presStyleIdx="0" presStyleCnt="7"/>
      <dgm:spPr/>
    </dgm:pt>
    <dgm:pt modelId="{973B75E1-9664-441E-843D-85297764AFA6}" type="pres">
      <dgm:prSet presAssocID="{C188B029-4531-4650-9358-9E615E305BAA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80F48736-3249-41B3-AF1A-7619AD2BFF2A}" type="pres">
      <dgm:prSet presAssocID="{C188B029-4531-4650-9358-9E615E305BAA}" presName="spaceRect" presStyleCnt="0"/>
      <dgm:spPr/>
    </dgm:pt>
    <dgm:pt modelId="{0AECFB88-2A2C-451A-BD6D-9BA04147F5CF}" type="pres">
      <dgm:prSet presAssocID="{C188B029-4531-4650-9358-9E615E305BAA}" presName="textRect" presStyleLbl="revTx" presStyleIdx="0" presStyleCnt="7">
        <dgm:presLayoutVars>
          <dgm:chMax val="1"/>
          <dgm:chPref val="1"/>
        </dgm:presLayoutVars>
      </dgm:prSet>
      <dgm:spPr/>
    </dgm:pt>
    <dgm:pt modelId="{14472275-24DA-452B-AA89-71E8F3A747CC}" type="pres">
      <dgm:prSet presAssocID="{35AEA90C-4FE0-4732-9655-D141009F73C5}" presName="sibTrans" presStyleCnt="0"/>
      <dgm:spPr/>
    </dgm:pt>
    <dgm:pt modelId="{A63F0EAE-D96F-4E08-8236-5EC2B698856C}" type="pres">
      <dgm:prSet presAssocID="{F7A36173-8644-44E3-AC7B-3F338364B0F7}" presName="compNode" presStyleCnt="0"/>
      <dgm:spPr/>
    </dgm:pt>
    <dgm:pt modelId="{E57461FA-97D8-48A1-89EB-6E487D296D09}" type="pres">
      <dgm:prSet presAssocID="{F7A36173-8644-44E3-AC7B-3F338364B0F7}" presName="iconBgRect" presStyleLbl="bgShp" presStyleIdx="1" presStyleCnt="7"/>
      <dgm:spPr/>
    </dgm:pt>
    <dgm:pt modelId="{8AF5B943-781C-4B89-8BA6-D62D5594B0E3}" type="pres">
      <dgm:prSet presAssocID="{F7A36173-8644-44E3-AC7B-3F338364B0F7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DABBFDD3-76CD-4CAA-A335-64B256FC2E0C}" type="pres">
      <dgm:prSet presAssocID="{F7A36173-8644-44E3-AC7B-3F338364B0F7}" presName="spaceRect" presStyleCnt="0"/>
      <dgm:spPr/>
    </dgm:pt>
    <dgm:pt modelId="{F5B736A2-7DCC-4A0A-B98E-58B0E9C8DC47}" type="pres">
      <dgm:prSet presAssocID="{F7A36173-8644-44E3-AC7B-3F338364B0F7}" presName="textRect" presStyleLbl="revTx" presStyleIdx="1" presStyleCnt="7">
        <dgm:presLayoutVars>
          <dgm:chMax val="1"/>
          <dgm:chPref val="1"/>
        </dgm:presLayoutVars>
      </dgm:prSet>
      <dgm:spPr/>
    </dgm:pt>
    <dgm:pt modelId="{BBE83B76-0306-40A6-87D0-057027ABC69C}" type="pres">
      <dgm:prSet presAssocID="{33C28119-3E20-4EE7-8C7F-ED63AD521756}" presName="sibTrans" presStyleCnt="0"/>
      <dgm:spPr/>
    </dgm:pt>
    <dgm:pt modelId="{DDA4B1FC-C2B9-4583-AE2D-6B8D583EE8D4}" type="pres">
      <dgm:prSet presAssocID="{649539E6-DDFF-4175-893D-B604C6FAC63B}" presName="compNode" presStyleCnt="0"/>
      <dgm:spPr/>
    </dgm:pt>
    <dgm:pt modelId="{78CB9567-0A05-4579-AFF1-96E48F2B95E4}" type="pres">
      <dgm:prSet presAssocID="{649539E6-DDFF-4175-893D-B604C6FAC63B}" presName="iconBgRect" presStyleLbl="bgShp" presStyleIdx="2" presStyleCnt="7"/>
      <dgm:spPr/>
    </dgm:pt>
    <dgm:pt modelId="{FC700193-0124-444A-92CD-56C11376EF41}" type="pres">
      <dgm:prSet presAssocID="{649539E6-DDFF-4175-893D-B604C6FAC63B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3408B722-88C0-4E1D-A3E9-013D8B6F96D1}" type="pres">
      <dgm:prSet presAssocID="{649539E6-DDFF-4175-893D-B604C6FAC63B}" presName="spaceRect" presStyleCnt="0"/>
      <dgm:spPr/>
    </dgm:pt>
    <dgm:pt modelId="{CB45690F-76C8-456A-83ED-5583DC6EE031}" type="pres">
      <dgm:prSet presAssocID="{649539E6-DDFF-4175-893D-B604C6FAC63B}" presName="textRect" presStyleLbl="revTx" presStyleIdx="2" presStyleCnt="7">
        <dgm:presLayoutVars>
          <dgm:chMax val="1"/>
          <dgm:chPref val="1"/>
        </dgm:presLayoutVars>
      </dgm:prSet>
      <dgm:spPr/>
    </dgm:pt>
    <dgm:pt modelId="{2921EF62-EB78-4BD0-8F99-4766B03EADFB}" type="pres">
      <dgm:prSet presAssocID="{C0060846-A2BB-4349-883C-02D2D30B6A85}" presName="sibTrans" presStyleCnt="0"/>
      <dgm:spPr/>
    </dgm:pt>
    <dgm:pt modelId="{17CCC667-BD39-4B7B-8460-4E9D07C2DBD0}" type="pres">
      <dgm:prSet presAssocID="{7FE937F3-9481-4B0E-B3FF-55CBBBBF160C}" presName="compNode" presStyleCnt="0"/>
      <dgm:spPr/>
    </dgm:pt>
    <dgm:pt modelId="{4FE4ACED-80D4-48CD-ACAB-7541E0E44020}" type="pres">
      <dgm:prSet presAssocID="{7FE937F3-9481-4B0E-B3FF-55CBBBBF160C}" presName="iconBgRect" presStyleLbl="bgShp" presStyleIdx="3" presStyleCnt="7"/>
      <dgm:spPr/>
    </dgm:pt>
    <dgm:pt modelId="{01AD5F6C-E888-4EFA-8E33-04953B838AAE}" type="pres">
      <dgm:prSet presAssocID="{7FE937F3-9481-4B0E-B3FF-55CBBBBF160C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d Chime"/>
        </a:ext>
      </dgm:extLst>
    </dgm:pt>
    <dgm:pt modelId="{8C60E638-2AC7-4F13-B099-EFB11644EAF0}" type="pres">
      <dgm:prSet presAssocID="{7FE937F3-9481-4B0E-B3FF-55CBBBBF160C}" presName="spaceRect" presStyleCnt="0"/>
      <dgm:spPr/>
    </dgm:pt>
    <dgm:pt modelId="{E264B438-ECBA-4620-9D2A-67ABEDF4AF33}" type="pres">
      <dgm:prSet presAssocID="{7FE937F3-9481-4B0E-B3FF-55CBBBBF160C}" presName="textRect" presStyleLbl="revTx" presStyleIdx="3" presStyleCnt="7">
        <dgm:presLayoutVars>
          <dgm:chMax val="1"/>
          <dgm:chPref val="1"/>
        </dgm:presLayoutVars>
      </dgm:prSet>
      <dgm:spPr/>
    </dgm:pt>
    <dgm:pt modelId="{B487D0F0-6EF4-48BB-BD00-814CBC246E39}" type="pres">
      <dgm:prSet presAssocID="{EBA6829B-331B-4181-8592-733D034A59C1}" presName="sibTrans" presStyleCnt="0"/>
      <dgm:spPr/>
    </dgm:pt>
    <dgm:pt modelId="{7DD1EA0C-B1E6-4880-8CCD-7CCA76635C7C}" type="pres">
      <dgm:prSet presAssocID="{3AE15B43-0DE7-4D80-841E-C949660943E1}" presName="compNode" presStyleCnt="0"/>
      <dgm:spPr/>
    </dgm:pt>
    <dgm:pt modelId="{1D876A57-55DA-4946-A83E-AC15420FA3F2}" type="pres">
      <dgm:prSet presAssocID="{3AE15B43-0DE7-4D80-841E-C949660943E1}" presName="iconBgRect" presStyleLbl="bgShp" presStyleIdx="4" presStyleCnt="7"/>
      <dgm:spPr/>
    </dgm:pt>
    <dgm:pt modelId="{69CC4183-A9E3-403A-8354-71E33CE40B29}" type="pres">
      <dgm:prSet presAssocID="{3AE15B43-0DE7-4D80-841E-C949660943E1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372F520-1773-48EC-8FC6-F95CC83C28BC}" type="pres">
      <dgm:prSet presAssocID="{3AE15B43-0DE7-4D80-841E-C949660943E1}" presName="spaceRect" presStyleCnt="0"/>
      <dgm:spPr/>
    </dgm:pt>
    <dgm:pt modelId="{4C216B90-CD24-4ED0-B19E-CDC6B8247874}" type="pres">
      <dgm:prSet presAssocID="{3AE15B43-0DE7-4D80-841E-C949660943E1}" presName="textRect" presStyleLbl="revTx" presStyleIdx="4" presStyleCnt="7">
        <dgm:presLayoutVars>
          <dgm:chMax val="1"/>
          <dgm:chPref val="1"/>
        </dgm:presLayoutVars>
      </dgm:prSet>
      <dgm:spPr/>
    </dgm:pt>
    <dgm:pt modelId="{DE634BDF-912D-4360-B0D9-19541F10DBB9}" type="pres">
      <dgm:prSet presAssocID="{7CAABAB4-678C-46AE-85E3-AACA0A695294}" presName="sibTrans" presStyleCnt="0"/>
      <dgm:spPr/>
    </dgm:pt>
    <dgm:pt modelId="{6B763EE7-F7D1-48C4-BA80-BFB2D72B2177}" type="pres">
      <dgm:prSet presAssocID="{D4AC29C5-37F1-4444-90E8-CA105448240B}" presName="compNode" presStyleCnt="0"/>
      <dgm:spPr/>
    </dgm:pt>
    <dgm:pt modelId="{D9D926AE-7B9B-4923-9D69-D0CA2EBB8D12}" type="pres">
      <dgm:prSet presAssocID="{D4AC29C5-37F1-4444-90E8-CA105448240B}" presName="iconBgRect" presStyleLbl="bgShp" presStyleIdx="5" presStyleCnt="7"/>
      <dgm:spPr/>
    </dgm:pt>
    <dgm:pt modelId="{EECE73ED-F452-405E-977A-266BE4F5820B}" type="pres">
      <dgm:prSet presAssocID="{D4AC29C5-37F1-4444-90E8-CA105448240B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EE6796B-020F-425B-964C-AFF2935BCDB1}" type="pres">
      <dgm:prSet presAssocID="{D4AC29C5-37F1-4444-90E8-CA105448240B}" presName="spaceRect" presStyleCnt="0"/>
      <dgm:spPr/>
    </dgm:pt>
    <dgm:pt modelId="{2188CADB-B86B-4C88-94BA-B20E9881038A}" type="pres">
      <dgm:prSet presAssocID="{D4AC29C5-37F1-4444-90E8-CA105448240B}" presName="textRect" presStyleLbl="revTx" presStyleIdx="5" presStyleCnt="7">
        <dgm:presLayoutVars>
          <dgm:chMax val="1"/>
          <dgm:chPref val="1"/>
        </dgm:presLayoutVars>
      </dgm:prSet>
      <dgm:spPr/>
    </dgm:pt>
    <dgm:pt modelId="{7A5FD8B7-39F5-4743-A2CC-1CB1D0E2CC83}" type="pres">
      <dgm:prSet presAssocID="{CE6F0B7B-122A-4015-828B-2A17EADE01CA}" presName="sibTrans" presStyleCnt="0"/>
      <dgm:spPr/>
    </dgm:pt>
    <dgm:pt modelId="{10D4B3B4-A61D-4C4C-ADD5-EA0DA531B3E2}" type="pres">
      <dgm:prSet presAssocID="{E78678AE-9A55-487B-8CD7-7372E97B67B3}" presName="compNode" presStyleCnt="0"/>
      <dgm:spPr/>
    </dgm:pt>
    <dgm:pt modelId="{2F7196A3-2527-497B-BAA8-04620A359DF0}" type="pres">
      <dgm:prSet presAssocID="{E78678AE-9A55-487B-8CD7-7372E97B67B3}" presName="iconBgRect" presStyleLbl="bgShp" presStyleIdx="6" presStyleCnt="7"/>
      <dgm:spPr/>
    </dgm:pt>
    <dgm:pt modelId="{13D59438-BE74-4D33-9CE1-3E554B51D394}" type="pres">
      <dgm:prSet presAssocID="{E78678AE-9A55-487B-8CD7-7372E97B67B3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F4D6C0E4-A973-43C2-ACDA-99EA8A2490CB}" type="pres">
      <dgm:prSet presAssocID="{E78678AE-9A55-487B-8CD7-7372E97B67B3}" presName="spaceRect" presStyleCnt="0"/>
      <dgm:spPr/>
    </dgm:pt>
    <dgm:pt modelId="{098728AF-60CB-4E61-BF69-02D2A311D2F8}" type="pres">
      <dgm:prSet presAssocID="{E78678AE-9A55-487B-8CD7-7372E97B67B3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BF520413-A833-40E6-8272-3B2ABA3AFC2D}" type="presOf" srcId="{7F6B7FCA-603C-454A-9B70-418A4C3B2D11}" destId="{40F3019A-3595-4CE9-A7D2-89E4E9963172}" srcOrd="0" destOrd="0" presId="urn:microsoft.com/office/officeart/2018/5/layout/IconCircleLabelList"/>
    <dgm:cxn modelId="{AC0CF714-24EE-476D-86A6-37C3F8B46AB2}" type="presOf" srcId="{C188B029-4531-4650-9358-9E615E305BAA}" destId="{0AECFB88-2A2C-451A-BD6D-9BA04147F5CF}" srcOrd="0" destOrd="0" presId="urn:microsoft.com/office/officeart/2018/5/layout/IconCircleLabelList"/>
    <dgm:cxn modelId="{F42D342D-3AE6-4E8F-82F8-60EB64EC4E61}" srcId="{7F6B7FCA-603C-454A-9B70-418A4C3B2D11}" destId="{E78678AE-9A55-487B-8CD7-7372E97B67B3}" srcOrd="6" destOrd="0" parTransId="{83249063-9EE0-47DD-9235-BCA099547C83}" sibTransId="{D968071B-4550-4D18-AF76-0504B6C7D0AC}"/>
    <dgm:cxn modelId="{0ABE803E-5880-4F4A-8A19-127B44E1AC1C}" type="presOf" srcId="{7FE937F3-9481-4B0E-B3FF-55CBBBBF160C}" destId="{E264B438-ECBA-4620-9D2A-67ABEDF4AF33}" srcOrd="0" destOrd="0" presId="urn:microsoft.com/office/officeart/2018/5/layout/IconCircleLabelList"/>
    <dgm:cxn modelId="{039C8142-4C3A-4EDF-81E4-0FB6AB449CB4}" type="presOf" srcId="{D4AC29C5-37F1-4444-90E8-CA105448240B}" destId="{2188CADB-B86B-4C88-94BA-B20E9881038A}" srcOrd="0" destOrd="0" presId="urn:microsoft.com/office/officeart/2018/5/layout/IconCircleLabelList"/>
    <dgm:cxn modelId="{161C8B71-24E5-4342-BFE9-05D7AE599957}" type="presOf" srcId="{E78678AE-9A55-487B-8CD7-7372E97B67B3}" destId="{098728AF-60CB-4E61-BF69-02D2A311D2F8}" srcOrd="0" destOrd="0" presId="urn:microsoft.com/office/officeart/2018/5/layout/IconCircleLabelList"/>
    <dgm:cxn modelId="{B944CA76-4EB3-4593-B76A-C32B5F06308F}" srcId="{7F6B7FCA-603C-454A-9B70-418A4C3B2D11}" destId="{7FE937F3-9481-4B0E-B3FF-55CBBBBF160C}" srcOrd="3" destOrd="0" parTransId="{ED1B63BE-470C-4DCE-93AE-164E45775CD2}" sibTransId="{EBA6829B-331B-4181-8592-733D034A59C1}"/>
    <dgm:cxn modelId="{F461ECA3-0823-423B-9852-08DD1BC7E9B1}" type="presOf" srcId="{F7A36173-8644-44E3-AC7B-3F338364B0F7}" destId="{F5B736A2-7DCC-4A0A-B98E-58B0E9C8DC47}" srcOrd="0" destOrd="0" presId="urn:microsoft.com/office/officeart/2018/5/layout/IconCircleLabelList"/>
    <dgm:cxn modelId="{EDC918A5-3E73-45A1-9E67-A2D4B1E9C053}" srcId="{7F6B7FCA-603C-454A-9B70-418A4C3B2D11}" destId="{D4AC29C5-37F1-4444-90E8-CA105448240B}" srcOrd="5" destOrd="0" parTransId="{0516BDB8-5F50-41B2-8EA4-354F74A193AA}" sibTransId="{CE6F0B7B-122A-4015-828B-2A17EADE01CA}"/>
    <dgm:cxn modelId="{5EFA1DBB-FD74-455B-8D31-1915A9DBC4E7}" srcId="{7F6B7FCA-603C-454A-9B70-418A4C3B2D11}" destId="{649539E6-DDFF-4175-893D-B604C6FAC63B}" srcOrd="2" destOrd="0" parTransId="{85E97101-F6B7-4DBF-97D7-D87CE66823D0}" sibTransId="{C0060846-A2BB-4349-883C-02D2D30B6A85}"/>
    <dgm:cxn modelId="{217F7EC5-49F4-428E-BBB5-365171A69D0F}" type="presOf" srcId="{649539E6-DDFF-4175-893D-B604C6FAC63B}" destId="{CB45690F-76C8-456A-83ED-5583DC6EE031}" srcOrd="0" destOrd="0" presId="urn:microsoft.com/office/officeart/2018/5/layout/IconCircleLabelList"/>
    <dgm:cxn modelId="{F88E2AC8-34EF-45E5-B6DE-82437A36FD3C}" srcId="{7F6B7FCA-603C-454A-9B70-418A4C3B2D11}" destId="{3AE15B43-0DE7-4D80-841E-C949660943E1}" srcOrd="4" destOrd="0" parTransId="{0FEE33CD-C341-44A1-9407-36984A61A5A4}" sibTransId="{7CAABAB4-678C-46AE-85E3-AACA0A695294}"/>
    <dgm:cxn modelId="{85255ACB-C0E5-47F2-8CE1-47CD83EA650B}" type="presOf" srcId="{3AE15B43-0DE7-4D80-841E-C949660943E1}" destId="{4C216B90-CD24-4ED0-B19E-CDC6B8247874}" srcOrd="0" destOrd="0" presId="urn:microsoft.com/office/officeart/2018/5/layout/IconCircleLabelList"/>
    <dgm:cxn modelId="{CBFD4DD3-23FF-4074-8244-9875C64D4755}" srcId="{7F6B7FCA-603C-454A-9B70-418A4C3B2D11}" destId="{F7A36173-8644-44E3-AC7B-3F338364B0F7}" srcOrd="1" destOrd="0" parTransId="{0608170A-CEBE-40E0-83D4-810C94FA9496}" sibTransId="{33C28119-3E20-4EE7-8C7F-ED63AD521756}"/>
    <dgm:cxn modelId="{A17B4AFF-51F7-4241-A99E-673E43500835}" srcId="{7F6B7FCA-603C-454A-9B70-418A4C3B2D11}" destId="{C188B029-4531-4650-9358-9E615E305BAA}" srcOrd="0" destOrd="0" parTransId="{078F62B7-23D7-416B-987E-F01F9584636E}" sibTransId="{35AEA90C-4FE0-4732-9655-D141009F73C5}"/>
    <dgm:cxn modelId="{AF264D7B-8CF1-4770-988A-75C709BA997E}" type="presParOf" srcId="{40F3019A-3595-4CE9-A7D2-89E4E9963172}" destId="{89280370-D88F-492A-BE70-E80DEEE22923}" srcOrd="0" destOrd="0" presId="urn:microsoft.com/office/officeart/2018/5/layout/IconCircleLabelList"/>
    <dgm:cxn modelId="{30FDDC49-7CB0-4294-8D66-801BA2366E48}" type="presParOf" srcId="{89280370-D88F-492A-BE70-E80DEEE22923}" destId="{EF22C8BF-4476-49CA-B72D-619ACD3DAE51}" srcOrd="0" destOrd="0" presId="urn:microsoft.com/office/officeart/2018/5/layout/IconCircleLabelList"/>
    <dgm:cxn modelId="{2AEA155C-020A-4FAD-AE7A-1A0AE3B8B0B1}" type="presParOf" srcId="{89280370-D88F-492A-BE70-E80DEEE22923}" destId="{973B75E1-9664-441E-843D-85297764AFA6}" srcOrd="1" destOrd="0" presId="urn:microsoft.com/office/officeart/2018/5/layout/IconCircleLabelList"/>
    <dgm:cxn modelId="{8517FF42-F905-4790-8BAB-0275C1130DA3}" type="presParOf" srcId="{89280370-D88F-492A-BE70-E80DEEE22923}" destId="{80F48736-3249-41B3-AF1A-7619AD2BFF2A}" srcOrd="2" destOrd="0" presId="urn:microsoft.com/office/officeart/2018/5/layout/IconCircleLabelList"/>
    <dgm:cxn modelId="{5E56D25A-552F-4D42-AAA2-8298C0149CF3}" type="presParOf" srcId="{89280370-D88F-492A-BE70-E80DEEE22923}" destId="{0AECFB88-2A2C-451A-BD6D-9BA04147F5CF}" srcOrd="3" destOrd="0" presId="urn:microsoft.com/office/officeart/2018/5/layout/IconCircleLabelList"/>
    <dgm:cxn modelId="{7AA74129-CB72-4343-980D-F761A0BC00B7}" type="presParOf" srcId="{40F3019A-3595-4CE9-A7D2-89E4E9963172}" destId="{14472275-24DA-452B-AA89-71E8F3A747CC}" srcOrd="1" destOrd="0" presId="urn:microsoft.com/office/officeart/2018/5/layout/IconCircleLabelList"/>
    <dgm:cxn modelId="{64D12E41-2048-439C-B257-FAD2E024855A}" type="presParOf" srcId="{40F3019A-3595-4CE9-A7D2-89E4E9963172}" destId="{A63F0EAE-D96F-4E08-8236-5EC2B698856C}" srcOrd="2" destOrd="0" presId="urn:microsoft.com/office/officeart/2018/5/layout/IconCircleLabelList"/>
    <dgm:cxn modelId="{B2121034-0638-42FD-BFEF-01C264E7C164}" type="presParOf" srcId="{A63F0EAE-D96F-4E08-8236-5EC2B698856C}" destId="{E57461FA-97D8-48A1-89EB-6E487D296D09}" srcOrd="0" destOrd="0" presId="urn:microsoft.com/office/officeart/2018/5/layout/IconCircleLabelList"/>
    <dgm:cxn modelId="{AB8C27E2-7C46-4C91-A8D8-692B3F4B4105}" type="presParOf" srcId="{A63F0EAE-D96F-4E08-8236-5EC2B698856C}" destId="{8AF5B943-781C-4B89-8BA6-D62D5594B0E3}" srcOrd="1" destOrd="0" presId="urn:microsoft.com/office/officeart/2018/5/layout/IconCircleLabelList"/>
    <dgm:cxn modelId="{A6752815-A586-46F4-898C-02931A1D43A5}" type="presParOf" srcId="{A63F0EAE-D96F-4E08-8236-5EC2B698856C}" destId="{DABBFDD3-76CD-4CAA-A335-64B256FC2E0C}" srcOrd="2" destOrd="0" presId="urn:microsoft.com/office/officeart/2018/5/layout/IconCircleLabelList"/>
    <dgm:cxn modelId="{90AA65B3-72AF-4FFD-97E5-8B62A5AF4BD8}" type="presParOf" srcId="{A63F0EAE-D96F-4E08-8236-5EC2B698856C}" destId="{F5B736A2-7DCC-4A0A-B98E-58B0E9C8DC47}" srcOrd="3" destOrd="0" presId="urn:microsoft.com/office/officeart/2018/5/layout/IconCircleLabelList"/>
    <dgm:cxn modelId="{FA58A06F-490C-44AD-87D4-D2536812F3EA}" type="presParOf" srcId="{40F3019A-3595-4CE9-A7D2-89E4E9963172}" destId="{BBE83B76-0306-40A6-87D0-057027ABC69C}" srcOrd="3" destOrd="0" presId="urn:microsoft.com/office/officeart/2018/5/layout/IconCircleLabelList"/>
    <dgm:cxn modelId="{EEA3D589-2560-4E65-B823-E4E990FA8685}" type="presParOf" srcId="{40F3019A-3595-4CE9-A7D2-89E4E9963172}" destId="{DDA4B1FC-C2B9-4583-AE2D-6B8D583EE8D4}" srcOrd="4" destOrd="0" presId="urn:microsoft.com/office/officeart/2018/5/layout/IconCircleLabelList"/>
    <dgm:cxn modelId="{51A36E4C-F97B-4F73-AB4E-F3860D874A6F}" type="presParOf" srcId="{DDA4B1FC-C2B9-4583-AE2D-6B8D583EE8D4}" destId="{78CB9567-0A05-4579-AFF1-96E48F2B95E4}" srcOrd="0" destOrd="0" presId="urn:microsoft.com/office/officeart/2018/5/layout/IconCircleLabelList"/>
    <dgm:cxn modelId="{F74246DB-5757-4FC9-BFE6-1A794413EFEF}" type="presParOf" srcId="{DDA4B1FC-C2B9-4583-AE2D-6B8D583EE8D4}" destId="{FC700193-0124-444A-92CD-56C11376EF41}" srcOrd="1" destOrd="0" presId="urn:microsoft.com/office/officeart/2018/5/layout/IconCircleLabelList"/>
    <dgm:cxn modelId="{943555A6-BC15-43E4-AEDD-3CF12123A429}" type="presParOf" srcId="{DDA4B1FC-C2B9-4583-AE2D-6B8D583EE8D4}" destId="{3408B722-88C0-4E1D-A3E9-013D8B6F96D1}" srcOrd="2" destOrd="0" presId="urn:microsoft.com/office/officeart/2018/5/layout/IconCircleLabelList"/>
    <dgm:cxn modelId="{C68329C5-310C-415E-A39E-90DB3F64D855}" type="presParOf" srcId="{DDA4B1FC-C2B9-4583-AE2D-6B8D583EE8D4}" destId="{CB45690F-76C8-456A-83ED-5583DC6EE031}" srcOrd="3" destOrd="0" presId="urn:microsoft.com/office/officeart/2018/5/layout/IconCircleLabelList"/>
    <dgm:cxn modelId="{805BE3AD-ACB7-48E6-9902-23016CA0AB1C}" type="presParOf" srcId="{40F3019A-3595-4CE9-A7D2-89E4E9963172}" destId="{2921EF62-EB78-4BD0-8F99-4766B03EADFB}" srcOrd="5" destOrd="0" presId="urn:microsoft.com/office/officeart/2018/5/layout/IconCircleLabelList"/>
    <dgm:cxn modelId="{F704FDAD-46C7-4886-984C-C9BC7F189B75}" type="presParOf" srcId="{40F3019A-3595-4CE9-A7D2-89E4E9963172}" destId="{17CCC667-BD39-4B7B-8460-4E9D07C2DBD0}" srcOrd="6" destOrd="0" presId="urn:microsoft.com/office/officeart/2018/5/layout/IconCircleLabelList"/>
    <dgm:cxn modelId="{9F9AD532-4D96-46D4-8FC8-E532001124AD}" type="presParOf" srcId="{17CCC667-BD39-4B7B-8460-4E9D07C2DBD0}" destId="{4FE4ACED-80D4-48CD-ACAB-7541E0E44020}" srcOrd="0" destOrd="0" presId="urn:microsoft.com/office/officeart/2018/5/layout/IconCircleLabelList"/>
    <dgm:cxn modelId="{1C324ACD-325C-4AF9-9194-D48A4559EE2A}" type="presParOf" srcId="{17CCC667-BD39-4B7B-8460-4E9D07C2DBD0}" destId="{01AD5F6C-E888-4EFA-8E33-04953B838AAE}" srcOrd="1" destOrd="0" presId="urn:microsoft.com/office/officeart/2018/5/layout/IconCircleLabelList"/>
    <dgm:cxn modelId="{F86A6BE3-F10F-413D-856A-BFA8366DF80D}" type="presParOf" srcId="{17CCC667-BD39-4B7B-8460-4E9D07C2DBD0}" destId="{8C60E638-2AC7-4F13-B099-EFB11644EAF0}" srcOrd="2" destOrd="0" presId="urn:microsoft.com/office/officeart/2018/5/layout/IconCircleLabelList"/>
    <dgm:cxn modelId="{6C1B759E-B27A-4082-9EAC-E81359DC4B1F}" type="presParOf" srcId="{17CCC667-BD39-4B7B-8460-4E9D07C2DBD0}" destId="{E264B438-ECBA-4620-9D2A-67ABEDF4AF33}" srcOrd="3" destOrd="0" presId="urn:microsoft.com/office/officeart/2018/5/layout/IconCircleLabelList"/>
    <dgm:cxn modelId="{2835928E-685F-4904-9C49-8F7EA057A80A}" type="presParOf" srcId="{40F3019A-3595-4CE9-A7D2-89E4E9963172}" destId="{B487D0F0-6EF4-48BB-BD00-814CBC246E39}" srcOrd="7" destOrd="0" presId="urn:microsoft.com/office/officeart/2018/5/layout/IconCircleLabelList"/>
    <dgm:cxn modelId="{528AACA1-3BC3-4587-8468-D424D16CD2CF}" type="presParOf" srcId="{40F3019A-3595-4CE9-A7D2-89E4E9963172}" destId="{7DD1EA0C-B1E6-4880-8CCD-7CCA76635C7C}" srcOrd="8" destOrd="0" presId="urn:microsoft.com/office/officeart/2018/5/layout/IconCircleLabelList"/>
    <dgm:cxn modelId="{08D92C43-30EC-4502-8FF1-84A5AAF9DD77}" type="presParOf" srcId="{7DD1EA0C-B1E6-4880-8CCD-7CCA76635C7C}" destId="{1D876A57-55DA-4946-A83E-AC15420FA3F2}" srcOrd="0" destOrd="0" presId="urn:microsoft.com/office/officeart/2018/5/layout/IconCircleLabelList"/>
    <dgm:cxn modelId="{8A187914-66C0-46E6-9DF0-F0F815ED7A3A}" type="presParOf" srcId="{7DD1EA0C-B1E6-4880-8CCD-7CCA76635C7C}" destId="{69CC4183-A9E3-403A-8354-71E33CE40B29}" srcOrd="1" destOrd="0" presId="urn:microsoft.com/office/officeart/2018/5/layout/IconCircleLabelList"/>
    <dgm:cxn modelId="{F9F2D0B9-D3CE-4E73-9179-8D58F5F233AA}" type="presParOf" srcId="{7DD1EA0C-B1E6-4880-8CCD-7CCA76635C7C}" destId="{B372F520-1773-48EC-8FC6-F95CC83C28BC}" srcOrd="2" destOrd="0" presId="urn:microsoft.com/office/officeart/2018/5/layout/IconCircleLabelList"/>
    <dgm:cxn modelId="{E35639A6-016E-4DBD-8F0F-A46606D68A1D}" type="presParOf" srcId="{7DD1EA0C-B1E6-4880-8CCD-7CCA76635C7C}" destId="{4C216B90-CD24-4ED0-B19E-CDC6B8247874}" srcOrd="3" destOrd="0" presId="urn:microsoft.com/office/officeart/2018/5/layout/IconCircleLabelList"/>
    <dgm:cxn modelId="{5EA3CAD0-FF29-4C2C-BCA3-F89F5F3E3E56}" type="presParOf" srcId="{40F3019A-3595-4CE9-A7D2-89E4E9963172}" destId="{DE634BDF-912D-4360-B0D9-19541F10DBB9}" srcOrd="9" destOrd="0" presId="urn:microsoft.com/office/officeart/2018/5/layout/IconCircleLabelList"/>
    <dgm:cxn modelId="{291E842E-1A66-4804-9247-A3C2A46C4A75}" type="presParOf" srcId="{40F3019A-3595-4CE9-A7D2-89E4E9963172}" destId="{6B763EE7-F7D1-48C4-BA80-BFB2D72B2177}" srcOrd="10" destOrd="0" presId="urn:microsoft.com/office/officeart/2018/5/layout/IconCircleLabelList"/>
    <dgm:cxn modelId="{9E868482-F2D1-4B8E-9C45-9D3EDB061146}" type="presParOf" srcId="{6B763EE7-F7D1-48C4-BA80-BFB2D72B2177}" destId="{D9D926AE-7B9B-4923-9D69-D0CA2EBB8D12}" srcOrd="0" destOrd="0" presId="urn:microsoft.com/office/officeart/2018/5/layout/IconCircleLabelList"/>
    <dgm:cxn modelId="{13840AFF-3B7B-4B69-AE34-45EDB51505CE}" type="presParOf" srcId="{6B763EE7-F7D1-48C4-BA80-BFB2D72B2177}" destId="{EECE73ED-F452-405E-977A-266BE4F5820B}" srcOrd="1" destOrd="0" presId="urn:microsoft.com/office/officeart/2018/5/layout/IconCircleLabelList"/>
    <dgm:cxn modelId="{AF1000BD-AE5E-4F9C-BC5F-5D709E21F9C6}" type="presParOf" srcId="{6B763EE7-F7D1-48C4-BA80-BFB2D72B2177}" destId="{0EE6796B-020F-425B-964C-AFF2935BCDB1}" srcOrd="2" destOrd="0" presId="urn:microsoft.com/office/officeart/2018/5/layout/IconCircleLabelList"/>
    <dgm:cxn modelId="{F96E10B2-EE63-4AEE-8670-CFCD5F0A98EC}" type="presParOf" srcId="{6B763EE7-F7D1-48C4-BA80-BFB2D72B2177}" destId="{2188CADB-B86B-4C88-94BA-B20E9881038A}" srcOrd="3" destOrd="0" presId="urn:microsoft.com/office/officeart/2018/5/layout/IconCircleLabelList"/>
    <dgm:cxn modelId="{16F55C10-A4C1-4CFA-BB72-D478EBB089D1}" type="presParOf" srcId="{40F3019A-3595-4CE9-A7D2-89E4E9963172}" destId="{7A5FD8B7-39F5-4743-A2CC-1CB1D0E2CC83}" srcOrd="11" destOrd="0" presId="urn:microsoft.com/office/officeart/2018/5/layout/IconCircleLabelList"/>
    <dgm:cxn modelId="{DDF8F126-4DA0-430B-AB37-42F7008EA01F}" type="presParOf" srcId="{40F3019A-3595-4CE9-A7D2-89E4E9963172}" destId="{10D4B3B4-A61D-4C4C-ADD5-EA0DA531B3E2}" srcOrd="12" destOrd="0" presId="urn:microsoft.com/office/officeart/2018/5/layout/IconCircleLabelList"/>
    <dgm:cxn modelId="{9F422D10-9792-48FC-AD58-35A9D4B1620F}" type="presParOf" srcId="{10D4B3B4-A61D-4C4C-ADD5-EA0DA531B3E2}" destId="{2F7196A3-2527-497B-BAA8-04620A359DF0}" srcOrd="0" destOrd="0" presId="urn:microsoft.com/office/officeart/2018/5/layout/IconCircleLabelList"/>
    <dgm:cxn modelId="{4C0130FE-61ED-4432-9D3E-DD4023A639B6}" type="presParOf" srcId="{10D4B3B4-A61D-4C4C-ADD5-EA0DA531B3E2}" destId="{13D59438-BE74-4D33-9CE1-3E554B51D394}" srcOrd="1" destOrd="0" presId="urn:microsoft.com/office/officeart/2018/5/layout/IconCircleLabelList"/>
    <dgm:cxn modelId="{AFF3000D-BEA0-419B-AFAC-0FB7FE022EEC}" type="presParOf" srcId="{10D4B3B4-A61D-4C4C-ADD5-EA0DA531B3E2}" destId="{F4D6C0E4-A973-43C2-ACDA-99EA8A2490CB}" srcOrd="2" destOrd="0" presId="urn:microsoft.com/office/officeart/2018/5/layout/IconCircleLabelList"/>
    <dgm:cxn modelId="{DD301E6D-C05B-4245-BCEF-33A2DFFBEBF8}" type="presParOf" srcId="{10D4B3B4-A61D-4C4C-ADD5-EA0DA531B3E2}" destId="{098728AF-60CB-4E61-BF69-02D2A311D2F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D2C9C0-01BD-498D-A2C0-885D170C2641}">
      <dsp:nvSpPr>
        <dsp:cNvPr id="0" name=""/>
        <dsp:cNvSpPr/>
      </dsp:nvSpPr>
      <dsp:spPr>
        <a:xfrm>
          <a:off x="0" y="718"/>
          <a:ext cx="6513603" cy="16811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98F74D-A0D2-42B7-BBC4-D488E8227D4D}">
      <dsp:nvSpPr>
        <dsp:cNvPr id="0" name=""/>
        <dsp:cNvSpPr/>
      </dsp:nvSpPr>
      <dsp:spPr>
        <a:xfrm>
          <a:off x="508544" y="378974"/>
          <a:ext cx="924626" cy="924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CD2A01-92AB-462F-8542-CF9D42572E56}">
      <dsp:nvSpPr>
        <dsp:cNvPr id="0" name=""/>
        <dsp:cNvSpPr/>
      </dsp:nvSpPr>
      <dsp:spPr>
        <a:xfrm>
          <a:off x="1941716" y="718"/>
          <a:ext cx="4571887" cy="1681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921" tIns="177921" rIns="177921" bIns="17792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The Dataset is taken from Kaggle. </a:t>
          </a:r>
          <a:r>
            <a:rPr lang="en-IN" sz="2100" kern="1200">
              <a:hlinkClick xmlns:r="http://schemas.openxmlformats.org/officeDocument/2006/relationships" r:id="rId3"/>
            </a:rPr>
            <a:t>https://www.kaggle.com/nsharan/h-1b-visa</a:t>
          </a:r>
          <a:endParaRPr lang="en-US" sz="2100" kern="1200"/>
        </a:p>
      </dsp:txBody>
      <dsp:txXfrm>
        <a:off x="1941716" y="718"/>
        <a:ext cx="4571887" cy="1681139"/>
      </dsp:txXfrm>
    </dsp:sp>
    <dsp:sp modelId="{6383094D-C512-4F2A-95F8-3C77B0405CE7}">
      <dsp:nvSpPr>
        <dsp:cNvPr id="0" name=""/>
        <dsp:cNvSpPr/>
      </dsp:nvSpPr>
      <dsp:spPr>
        <a:xfrm>
          <a:off x="0" y="2102143"/>
          <a:ext cx="6513603" cy="16811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BBB3E5-115A-4185-8AC5-EA9BE264C589}">
      <dsp:nvSpPr>
        <dsp:cNvPr id="0" name=""/>
        <dsp:cNvSpPr/>
      </dsp:nvSpPr>
      <dsp:spPr>
        <a:xfrm>
          <a:off x="508544" y="2480399"/>
          <a:ext cx="924626" cy="924626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7C82D6-96A1-41EE-9F7C-EC26DBCA8577}">
      <dsp:nvSpPr>
        <dsp:cNvPr id="0" name=""/>
        <dsp:cNvSpPr/>
      </dsp:nvSpPr>
      <dsp:spPr>
        <a:xfrm>
          <a:off x="1941716" y="2102143"/>
          <a:ext cx="4571887" cy="1681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921" tIns="177921" rIns="177921" bIns="17792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The Dataset has 3 million </a:t>
          </a:r>
          <a:br>
            <a:rPr lang="en-IN" sz="2100" kern="1200"/>
          </a:br>
          <a:r>
            <a:rPr lang="en-IN" sz="2100" kern="1200"/>
            <a:t>Records</a:t>
          </a:r>
          <a:endParaRPr lang="en-US" sz="2100" kern="1200"/>
        </a:p>
      </dsp:txBody>
      <dsp:txXfrm>
        <a:off x="1941716" y="2102143"/>
        <a:ext cx="4571887" cy="1681139"/>
      </dsp:txXfrm>
    </dsp:sp>
    <dsp:sp modelId="{CBE66472-0573-433A-92D0-B9F51B075B48}">
      <dsp:nvSpPr>
        <dsp:cNvPr id="0" name=""/>
        <dsp:cNvSpPr/>
      </dsp:nvSpPr>
      <dsp:spPr>
        <a:xfrm>
          <a:off x="0" y="4203567"/>
          <a:ext cx="6513603" cy="16811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FE8B9C-08CD-473A-96C2-E91C9D360651}">
      <dsp:nvSpPr>
        <dsp:cNvPr id="0" name=""/>
        <dsp:cNvSpPr/>
      </dsp:nvSpPr>
      <dsp:spPr>
        <a:xfrm>
          <a:off x="508544" y="4581824"/>
          <a:ext cx="924626" cy="924626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51D422-0C86-41C2-91F6-B8E552C7B051}">
      <dsp:nvSpPr>
        <dsp:cNvPr id="0" name=""/>
        <dsp:cNvSpPr/>
      </dsp:nvSpPr>
      <dsp:spPr>
        <a:xfrm>
          <a:off x="1941716" y="4203567"/>
          <a:ext cx="4571887" cy="1681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921" tIns="177921" rIns="177921" bIns="177921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Dataset spans petitions over 5 years from 2011 - 2016</a:t>
          </a:r>
          <a:endParaRPr lang="en-US" sz="2100" kern="1200"/>
        </a:p>
      </dsp:txBody>
      <dsp:txXfrm>
        <a:off x="1941716" y="4203567"/>
        <a:ext cx="4571887" cy="16811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034C84-C616-4C89-B43E-D232163F11DF}">
      <dsp:nvSpPr>
        <dsp:cNvPr id="0" name=""/>
        <dsp:cNvSpPr/>
      </dsp:nvSpPr>
      <dsp:spPr>
        <a:xfrm>
          <a:off x="1943745" y="480323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824464-6EBC-478F-A929-F122A2719A35}">
      <dsp:nvSpPr>
        <dsp:cNvPr id="0" name=""/>
        <dsp:cNvSpPr/>
      </dsp:nvSpPr>
      <dsp:spPr>
        <a:xfrm>
          <a:off x="755745" y="2894599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0" kern="1200" dirty="0"/>
            <a:t>Y </a:t>
          </a:r>
          <a:r>
            <a:rPr lang="en-IN" sz="5000" kern="1200" dirty="0">
              <a:solidFill>
                <a:srgbClr val="FF0000"/>
              </a:solidFill>
            </a:rPr>
            <a:t>2576111</a:t>
          </a:r>
          <a:endParaRPr lang="en-US" sz="5000" kern="1200" dirty="0">
            <a:solidFill>
              <a:srgbClr val="FF0000"/>
            </a:solidFill>
          </a:endParaRPr>
        </a:p>
      </dsp:txBody>
      <dsp:txXfrm>
        <a:off x="755745" y="2894599"/>
        <a:ext cx="4320000" cy="720000"/>
      </dsp:txXfrm>
    </dsp:sp>
    <dsp:sp modelId="{327EB24E-6393-4EBB-A4B9-EFBBAD7E9AE1}">
      <dsp:nvSpPr>
        <dsp:cNvPr id="0" name=""/>
        <dsp:cNvSpPr/>
      </dsp:nvSpPr>
      <dsp:spPr>
        <a:xfrm>
          <a:off x="7019745" y="480323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0EA122-D82E-421D-ADAE-13B417C24B65}">
      <dsp:nvSpPr>
        <dsp:cNvPr id="0" name=""/>
        <dsp:cNvSpPr/>
      </dsp:nvSpPr>
      <dsp:spPr>
        <a:xfrm>
          <a:off x="5831745" y="2894599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0" kern="1200" dirty="0"/>
            <a:t>N </a:t>
          </a:r>
          <a:r>
            <a:rPr lang="en-IN" sz="5000" kern="1200" dirty="0">
              <a:solidFill>
                <a:srgbClr val="FF0000"/>
              </a:solidFill>
            </a:rPr>
            <a:t>426332</a:t>
          </a:r>
          <a:endParaRPr lang="en-US" sz="5000" kern="1200" dirty="0">
            <a:solidFill>
              <a:srgbClr val="FF0000"/>
            </a:solidFill>
          </a:endParaRPr>
        </a:p>
      </dsp:txBody>
      <dsp:txXfrm>
        <a:off x="5831745" y="2894599"/>
        <a:ext cx="432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22C8BF-4476-49CA-B72D-619ACD3DAE51}">
      <dsp:nvSpPr>
        <dsp:cNvPr id="0" name=""/>
        <dsp:cNvSpPr/>
      </dsp:nvSpPr>
      <dsp:spPr>
        <a:xfrm>
          <a:off x="898829" y="891"/>
          <a:ext cx="1001496" cy="100149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3B75E1-9664-441E-843D-85297764AFA6}">
      <dsp:nvSpPr>
        <dsp:cNvPr id="0" name=""/>
        <dsp:cNvSpPr/>
      </dsp:nvSpPr>
      <dsp:spPr>
        <a:xfrm>
          <a:off x="1112262" y="214324"/>
          <a:ext cx="574628" cy="5746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ECFB88-2A2C-451A-BD6D-9BA04147F5CF}">
      <dsp:nvSpPr>
        <dsp:cNvPr id="0" name=""/>
        <dsp:cNvSpPr/>
      </dsp:nvSpPr>
      <dsp:spPr>
        <a:xfrm>
          <a:off x="578678" y="1314328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2300" kern="1200"/>
            <a:t>Decision Tree</a:t>
          </a:r>
          <a:endParaRPr lang="en-US" sz="2300" kern="1200"/>
        </a:p>
      </dsp:txBody>
      <dsp:txXfrm>
        <a:off x="578678" y="1314328"/>
        <a:ext cx="1641796" cy="656718"/>
      </dsp:txXfrm>
    </dsp:sp>
    <dsp:sp modelId="{E57461FA-97D8-48A1-89EB-6E487D296D09}">
      <dsp:nvSpPr>
        <dsp:cNvPr id="0" name=""/>
        <dsp:cNvSpPr/>
      </dsp:nvSpPr>
      <dsp:spPr>
        <a:xfrm>
          <a:off x="2827940" y="891"/>
          <a:ext cx="1001496" cy="100149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F5B943-781C-4B89-8BA6-D62D5594B0E3}">
      <dsp:nvSpPr>
        <dsp:cNvPr id="0" name=""/>
        <dsp:cNvSpPr/>
      </dsp:nvSpPr>
      <dsp:spPr>
        <a:xfrm>
          <a:off x="3041374" y="214324"/>
          <a:ext cx="574628" cy="5746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B736A2-7DCC-4A0A-B98E-58B0E9C8DC47}">
      <dsp:nvSpPr>
        <dsp:cNvPr id="0" name=""/>
        <dsp:cNvSpPr/>
      </dsp:nvSpPr>
      <dsp:spPr>
        <a:xfrm>
          <a:off x="2507790" y="1314328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2300" kern="1200"/>
            <a:t>Random Forest</a:t>
          </a:r>
          <a:endParaRPr lang="en-US" sz="2300" kern="1200"/>
        </a:p>
      </dsp:txBody>
      <dsp:txXfrm>
        <a:off x="2507790" y="1314328"/>
        <a:ext cx="1641796" cy="656718"/>
      </dsp:txXfrm>
    </dsp:sp>
    <dsp:sp modelId="{78CB9567-0A05-4579-AFF1-96E48F2B95E4}">
      <dsp:nvSpPr>
        <dsp:cNvPr id="0" name=""/>
        <dsp:cNvSpPr/>
      </dsp:nvSpPr>
      <dsp:spPr>
        <a:xfrm>
          <a:off x="4757051" y="891"/>
          <a:ext cx="1001496" cy="100149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700193-0124-444A-92CD-56C11376EF41}">
      <dsp:nvSpPr>
        <dsp:cNvPr id="0" name=""/>
        <dsp:cNvSpPr/>
      </dsp:nvSpPr>
      <dsp:spPr>
        <a:xfrm>
          <a:off x="4970485" y="214324"/>
          <a:ext cx="574628" cy="5746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45690F-76C8-456A-83ED-5583DC6EE031}">
      <dsp:nvSpPr>
        <dsp:cNvPr id="0" name=""/>
        <dsp:cNvSpPr/>
      </dsp:nvSpPr>
      <dsp:spPr>
        <a:xfrm>
          <a:off x="4436901" y="1314328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2300" kern="1200"/>
            <a:t>Neural Net</a:t>
          </a:r>
          <a:endParaRPr lang="en-US" sz="2300" kern="1200"/>
        </a:p>
      </dsp:txBody>
      <dsp:txXfrm>
        <a:off x="4436901" y="1314328"/>
        <a:ext cx="1641796" cy="656718"/>
      </dsp:txXfrm>
    </dsp:sp>
    <dsp:sp modelId="{4FE4ACED-80D4-48CD-ACAB-7541E0E44020}">
      <dsp:nvSpPr>
        <dsp:cNvPr id="0" name=""/>
        <dsp:cNvSpPr/>
      </dsp:nvSpPr>
      <dsp:spPr>
        <a:xfrm>
          <a:off x="6686163" y="891"/>
          <a:ext cx="1001496" cy="100149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AD5F6C-E888-4EFA-8E33-04953B838AAE}">
      <dsp:nvSpPr>
        <dsp:cNvPr id="0" name=""/>
        <dsp:cNvSpPr/>
      </dsp:nvSpPr>
      <dsp:spPr>
        <a:xfrm>
          <a:off x="6899596" y="214324"/>
          <a:ext cx="574628" cy="5746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64B438-ECBA-4620-9D2A-67ABEDF4AF33}">
      <dsp:nvSpPr>
        <dsp:cNvPr id="0" name=""/>
        <dsp:cNvSpPr/>
      </dsp:nvSpPr>
      <dsp:spPr>
        <a:xfrm>
          <a:off x="6366012" y="1314328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2300" kern="1200"/>
            <a:t>AdaBoost</a:t>
          </a:r>
          <a:endParaRPr lang="en-US" sz="2300" kern="1200"/>
        </a:p>
      </dsp:txBody>
      <dsp:txXfrm>
        <a:off x="6366012" y="1314328"/>
        <a:ext cx="1641796" cy="656718"/>
      </dsp:txXfrm>
    </dsp:sp>
    <dsp:sp modelId="{1D876A57-55DA-4946-A83E-AC15420FA3F2}">
      <dsp:nvSpPr>
        <dsp:cNvPr id="0" name=""/>
        <dsp:cNvSpPr/>
      </dsp:nvSpPr>
      <dsp:spPr>
        <a:xfrm>
          <a:off x="8615274" y="891"/>
          <a:ext cx="1001496" cy="100149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CC4183-A9E3-403A-8354-71E33CE40B29}">
      <dsp:nvSpPr>
        <dsp:cNvPr id="0" name=""/>
        <dsp:cNvSpPr/>
      </dsp:nvSpPr>
      <dsp:spPr>
        <a:xfrm>
          <a:off x="8828708" y="214324"/>
          <a:ext cx="574628" cy="57462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216B90-CD24-4ED0-B19E-CDC6B8247874}">
      <dsp:nvSpPr>
        <dsp:cNvPr id="0" name=""/>
        <dsp:cNvSpPr/>
      </dsp:nvSpPr>
      <dsp:spPr>
        <a:xfrm>
          <a:off x="8295124" y="1314328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2300" kern="1200"/>
            <a:t>Naïve Bayes</a:t>
          </a:r>
          <a:endParaRPr lang="en-US" sz="2300" kern="1200"/>
        </a:p>
      </dsp:txBody>
      <dsp:txXfrm>
        <a:off x="8295124" y="1314328"/>
        <a:ext cx="1641796" cy="656718"/>
      </dsp:txXfrm>
    </dsp:sp>
    <dsp:sp modelId="{D9D926AE-7B9B-4923-9D69-D0CA2EBB8D12}">
      <dsp:nvSpPr>
        <dsp:cNvPr id="0" name=""/>
        <dsp:cNvSpPr/>
      </dsp:nvSpPr>
      <dsp:spPr>
        <a:xfrm>
          <a:off x="3792496" y="2381496"/>
          <a:ext cx="1001496" cy="100149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CE73ED-F452-405E-977A-266BE4F5820B}">
      <dsp:nvSpPr>
        <dsp:cNvPr id="0" name=""/>
        <dsp:cNvSpPr/>
      </dsp:nvSpPr>
      <dsp:spPr>
        <a:xfrm>
          <a:off x="4005929" y="2594930"/>
          <a:ext cx="574628" cy="57462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88CADB-B86B-4C88-94BA-B20E9881038A}">
      <dsp:nvSpPr>
        <dsp:cNvPr id="0" name=""/>
        <dsp:cNvSpPr/>
      </dsp:nvSpPr>
      <dsp:spPr>
        <a:xfrm>
          <a:off x="3472345" y="3694934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2300" kern="1200"/>
            <a:t>SVM</a:t>
          </a:r>
          <a:endParaRPr lang="en-US" sz="2300" kern="1200"/>
        </a:p>
      </dsp:txBody>
      <dsp:txXfrm>
        <a:off x="3472345" y="3694934"/>
        <a:ext cx="1641796" cy="656718"/>
      </dsp:txXfrm>
    </dsp:sp>
    <dsp:sp modelId="{2F7196A3-2527-497B-BAA8-04620A359DF0}">
      <dsp:nvSpPr>
        <dsp:cNvPr id="0" name=""/>
        <dsp:cNvSpPr/>
      </dsp:nvSpPr>
      <dsp:spPr>
        <a:xfrm>
          <a:off x="5721607" y="2381496"/>
          <a:ext cx="1001496" cy="1001496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D59438-BE74-4D33-9CE1-3E554B51D394}">
      <dsp:nvSpPr>
        <dsp:cNvPr id="0" name=""/>
        <dsp:cNvSpPr/>
      </dsp:nvSpPr>
      <dsp:spPr>
        <a:xfrm>
          <a:off x="5935041" y="2594930"/>
          <a:ext cx="574628" cy="574628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8728AF-60CB-4E61-BF69-02D2A311D2F8}">
      <dsp:nvSpPr>
        <dsp:cNvPr id="0" name=""/>
        <dsp:cNvSpPr/>
      </dsp:nvSpPr>
      <dsp:spPr>
        <a:xfrm>
          <a:off x="5401457" y="3694934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2300" kern="1200"/>
            <a:t>Logistic</a:t>
          </a:r>
          <a:endParaRPr lang="en-US" sz="2300" kern="1200"/>
        </a:p>
      </dsp:txBody>
      <dsp:txXfrm>
        <a:off x="5401457" y="3694934"/>
        <a:ext cx="1641796" cy="656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DE27E-A059-4A6F-85C4-9E02796F8D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BCDC67-7EA6-43CA-849E-05D567AAD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6379-427E-4C51-BA81-2EF194DAA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85819-A88B-45F7-A525-FF769C3B15AA}" type="datetimeFigureOut">
              <a:rPr lang="en-IN" smtClean="0"/>
              <a:t>28-04-2020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1F033-2BF0-4904-AA4F-32CEE1ACF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47E18-2122-4A37-A396-56B9CBD53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C9312-29DD-49D9-8192-BD7586BB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368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D26B8-DF31-4349-9BB6-FD4E99F32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E72A2-C0DA-4724-A533-22DF12A99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16359-8F8D-4035-8434-4E0E43AA4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85819-A88B-45F7-A525-FF769C3B15AA}" type="datetimeFigureOut">
              <a:rPr lang="en-IN" smtClean="0"/>
              <a:t>28-04-2020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8ADD7-794B-4D6F-93CD-26F2AACE7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A94BF-6874-4685-BA95-FEC1469F8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C9312-29DD-49D9-8192-BD7586BB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27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01F2A-9C3A-47B9-A88F-ABE491202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E1717-5981-4DB9-B9B9-08764F436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9B011-4EE2-4C88-AF81-75909D387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85819-A88B-45F7-A525-FF769C3B15AA}" type="datetimeFigureOut">
              <a:rPr lang="en-IN" smtClean="0"/>
              <a:t>28-04-2020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B0316-E9D7-4DBE-8CDB-4B6C86DC5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3902E-76AE-4E3A-9312-B07F8BCF7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C9312-29DD-49D9-8192-BD7586BB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500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A597B-CCC6-4923-8700-5A7ED4AB7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F94E5-71BF-46DD-821D-B151257687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EC88DC-76EF-4918-BA0E-602141687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E36A0-C3AD-4C3F-8FFD-C87E15E2B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85819-A88B-45F7-A525-FF769C3B15AA}" type="datetimeFigureOut">
              <a:rPr lang="en-IN" smtClean="0"/>
              <a:t>28-04-2020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46C43-4182-4FE2-B293-9B4652020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593BD-4BD1-4521-A057-67623C51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C9312-29DD-49D9-8192-BD7586BB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730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59B8-7379-4970-834E-23E24DFFD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ED2A4-1427-4AA9-BAB0-DE5316316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24091-3BDC-4C82-BBAD-606B84C8D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69E4FE-9B76-4FA9-925D-2BEFA2A229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985BBF-15EE-4C6F-8707-9BC8186F72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07A783-93EA-49EF-9ECF-3B19BCD81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85819-A88B-45F7-A525-FF769C3B15AA}" type="datetimeFigureOut">
              <a:rPr lang="en-IN" smtClean="0"/>
              <a:t>28-04-2020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B85896-5D5D-4399-AD2B-24A79519E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FA0D16-599A-4234-91AE-0AFA2A51A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C9312-29DD-49D9-8192-BD7586BB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556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56418-88EF-4CBA-8440-AE156C2CF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54A2B8-736D-4EFB-A2D0-CC40F8E4F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85819-A88B-45F7-A525-FF769C3B15AA}" type="datetimeFigureOut">
              <a:rPr lang="en-IN" smtClean="0"/>
              <a:t>28-04-2020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D1EB67-7998-4544-8698-D36797A35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F05B9E-5869-4285-8B56-B0F6EB3B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C9312-29DD-49D9-8192-BD7586BB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573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0FAA75-696D-4F2D-9D04-DC78E0281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85819-A88B-45F7-A525-FF769C3B15AA}" type="datetimeFigureOut">
              <a:rPr lang="en-IN" smtClean="0"/>
              <a:t>28-04-2020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19123D-0580-449B-B12A-107303EC9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B4EE3-8A09-4E27-B220-3D28B1354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C9312-29DD-49D9-8192-BD7586BB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18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0D512-CFD5-4F42-AAC0-8F39822BD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3B8BC-D11F-4136-BF91-AADC7CF5C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2011A-1FF3-4E01-BB6B-385C264D9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1ADF9-3D25-477F-AF9D-AFD39A04C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85819-A88B-45F7-A525-FF769C3B15AA}" type="datetimeFigureOut">
              <a:rPr lang="en-IN" smtClean="0"/>
              <a:t>28-04-2020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90F23-0DD3-4C2C-8AFE-591AF145C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1C9B0-12D7-422C-978D-6EAC87D22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C9312-29DD-49D9-8192-BD7586BB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618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F3594-4B8D-4F6D-B525-3D338CD80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90748E-9FDA-4F73-8845-779F6C4190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F0EC12-1114-431F-B1E6-F570DEE65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F35A1-FC7D-48CE-A6D2-9576B56D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85819-A88B-45F7-A525-FF769C3B15AA}" type="datetimeFigureOut">
              <a:rPr lang="en-IN" smtClean="0"/>
              <a:t>28-04-2020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1C2D4-8696-4C41-B78C-D5323D643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D54E0-21D6-445E-BE4E-C2F7E5CBC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C9312-29DD-49D9-8192-BD7586BB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739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4E812-8652-46C8-9F64-620DC5745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D93D8B-AD14-4ADF-B72B-C06C31550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C414D-46C5-4D8F-A5D4-F16A3A7D0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85819-A88B-45F7-A525-FF769C3B15AA}" type="datetimeFigureOut">
              <a:rPr lang="en-IN" smtClean="0"/>
              <a:t>28-04-2020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76185-649E-4BE9-AD0B-EA0939DF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3F71D-DBD9-4F87-B047-C9EFED2C7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C9312-29DD-49D9-8192-BD7586BB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400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C81377-A5BB-4F87-8C4A-0CF98BA78E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5F20C2-6AB4-4F05-A632-31F8A556B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D3451-58D4-4B96-8BC4-56FA30CC8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85819-A88B-45F7-A525-FF769C3B15AA}" type="datetimeFigureOut">
              <a:rPr lang="en-IN" smtClean="0"/>
              <a:t>28-04-2020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D7EB8-5DCC-4A6B-A4AD-6E06F9666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FA3E8-3F69-44B1-A190-0EDEEB5CE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C9312-29DD-49D9-8192-BD7586BB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743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4983B3-EB2C-42F3-9513-BB7700527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B1111-F935-4500-9F9B-580815203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1DE93-AC9C-4D80-9F6B-33329B3789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585819-A88B-45F7-A525-FF769C3B15AA}" type="datetimeFigureOut">
              <a:rPr lang="en-IN" smtClean="0"/>
              <a:t>28-04-2020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545A8-CDE6-4AD4-BA76-CB0138BAD6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ED1F9-DBA1-4536-9B95-6A5260C4DA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C9312-29DD-49D9-8192-BD7586BB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949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oreignlaborcert.doleta.gov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7DD571-CFDA-48D2-B41A-395E5F5475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520" y="2744662"/>
            <a:ext cx="6589707" cy="2387600"/>
          </a:xfrm>
        </p:spPr>
        <p:txBody>
          <a:bodyPr>
            <a:normAutofit/>
          </a:bodyPr>
          <a:lstStyle/>
          <a:p>
            <a:pPr algn="r"/>
            <a:r>
              <a:rPr lang="en-IN" sz="4200">
                <a:solidFill>
                  <a:srgbClr val="FFFFFF"/>
                </a:solidFill>
              </a:rPr>
              <a:t>Prediction of Work Visa or H1b Approval using various classification techniques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74C08-F5C7-4D9D-B33B-EC885D434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520" y="5224337"/>
            <a:ext cx="6589707" cy="1329443"/>
          </a:xfrm>
        </p:spPr>
        <p:txBody>
          <a:bodyPr>
            <a:normAutofit/>
          </a:bodyPr>
          <a:lstStyle/>
          <a:p>
            <a:pPr algn="r"/>
            <a:r>
              <a:rPr lang="en-IN" sz="2200">
                <a:solidFill>
                  <a:srgbClr val="FFFFFF"/>
                </a:solidFill>
              </a:rPr>
              <a:t>Gopichand Kommineni</a:t>
            </a:r>
          </a:p>
          <a:p>
            <a:pPr algn="r"/>
            <a:r>
              <a:rPr lang="en-IN" sz="2200">
                <a:solidFill>
                  <a:srgbClr val="FFFFFF"/>
                </a:solidFill>
              </a:rPr>
              <a:t>UFID : 03055523</a:t>
            </a:r>
          </a:p>
          <a:p>
            <a:pPr algn="r"/>
            <a:r>
              <a:rPr lang="en-IN" sz="2200">
                <a:solidFill>
                  <a:srgbClr val="FFFFFF"/>
                </a:solidFill>
              </a:rPr>
              <a:t>gopichandk@ufl.edu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02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561411-BB20-43E1-B935-9CFA175C4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					Abstract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3C370-6F37-4A9C-9C65-721F1ED68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IN" sz="2200"/>
              <a:t>Most of the United States Workforce has high-skilled foreign workers who rely on H1b Visa for working in the US legally. A job by a valid employer is required to submit a petition for H-1 Visa to the US immigration department. Most of the international students once they complete higher education in United States apply for this visa and begin working in a fulltime position in their specialised fields. Every year 85000 </a:t>
            </a:r>
            <a:r>
              <a:rPr lang="en-IN" sz="2200" err="1"/>
              <a:t>newpetitions</a:t>
            </a:r>
            <a:r>
              <a:rPr lang="en-IN" sz="2200"/>
              <a:t> are picked up. If a person’s petition didn’t get picked up, he/she should go through the lottery. Although this process is done by a lottery system, approving these petitions are subjected to attributes like employer, salary etc,. A Person with good profile and salary has more chances of getting approved . In this project we try to develop and apply some machine learning predictors for predicting likelihood and risk of the new and continuing petitions.</a:t>
            </a:r>
          </a:p>
        </p:txBody>
      </p:sp>
    </p:spTree>
    <p:extLst>
      <p:ext uri="{BB962C8B-B14F-4D97-AF65-F5344CB8AC3E}">
        <p14:creationId xmlns:p14="http://schemas.microsoft.com/office/powerpoint/2010/main" val="2014833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FFD1F-9728-4E8F-A296-C72218AE4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DataSet			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6C8006-EF6C-4779-8807-56A3BBBF9C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7037334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3830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93AB2F-63E7-443C-A3E0-DF2411A09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Columns of the DataSet.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9A023-7C9D-4200-A570-6FA473F56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IN" sz="2000" dirty="0"/>
              <a:t>CASE_ID – Applicant ID for .</a:t>
            </a:r>
          </a:p>
          <a:p>
            <a:r>
              <a:rPr lang="en-IN" sz="2000" dirty="0"/>
              <a:t>CASE_STATUS – Whether application is approved or Denied.</a:t>
            </a:r>
          </a:p>
          <a:p>
            <a:r>
              <a:rPr lang="en-IN" sz="2000" dirty="0"/>
              <a:t>EMPLOYER_NAME – Name of the Company that is sponsoring the Visa.</a:t>
            </a:r>
          </a:p>
          <a:p>
            <a:r>
              <a:rPr lang="en-IN" sz="2000" dirty="0"/>
              <a:t>SOC_NAME – SOC_CODE name for the occupation.</a:t>
            </a:r>
          </a:p>
          <a:p>
            <a:r>
              <a:rPr lang="en-IN" sz="2000" dirty="0" err="1"/>
              <a:t>JOB_Title</a:t>
            </a:r>
            <a:r>
              <a:rPr lang="en-IN" sz="2000" dirty="0"/>
              <a:t> – Designation  of the Job</a:t>
            </a:r>
          </a:p>
          <a:p>
            <a:r>
              <a:rPr lang="en-IN" sz="2000" dirty="0"/>
              <a:t>FULL_TIME_POSITION – Whether the position is full time or not.</a:t>
            </a:r>
          </a:p>
          <a:p>
            <a:r>
              <a:rPr lang="en-IN" sz="2000" dirty="0"/>
              <a:t>PREVAILING_WAGE – Yearly Salary in US dollars.</a:t>
            </a:r>
          </a:p>
          <a:p>
            <a:r>
              <a:rPr lang="en-IN" sz="2000" dirty="0"/>
              <a:t>YEAR – Year in which h1b petition was filed.</a:t>
            </a:r>
          </a:p>
          <a:p>
            <a:r>
              <a:rPr lang="en-IN" sz="2000" dirty="0"/>
              <a:t>WORKSITE – Location of city and state where job is located.</a:t>
            </a:r>
          </a:p>
          <a:p>
            <a:r>
              <a:rPr lang="en-IN" sz="2000" dirty="0"/>
              <a:t>Lon – Longitude of the worksite</a:t>
            </a:r>
          </a:p>
          <a:p>
            <a:r>
              <a:rPr lang="en-IN" sz="2000" dirty="0"/>
              <a:t>Lat – Latitude of the worksite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46283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23D7B5-BA60-47FA-B339-D44D1C17B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sz="4100">
                <a:solidFill>
                  <a:srgbClr val="FFFFFF"/>
                </a:solidFill>
              </a:rPr>
              <a:t>CASE_STATUS Values</a:t>
            </a:r>
          </a:p>
        </p:txBody>
      </p:sp>
      <p:sp>
        <p:nvSpPr>
          <p:cNvPr id="15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C3E39D7-5267-40F6-8918-6F56666BD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IN" dirty="0"/>
              <a:t>CERTIFIED </a:t>
            </a:r>
            <a:r>
              <a:rPr lang="en-IN" dirty="0">
                <a:solidFill>
                  <a:srgbClr val="FF0000"/>
                </a:solidFill>
              </a:rPr>
              <a:t>2615623 </a:t>
            </a:r>
          </a:p>
          <a:p>
            <a:r>
              <a:rPr lang="en-IN" dirty="0"/>
              <a:t>CERTIFIED-WITHDRAWN </a:t>
            </a:r>
            <a:r>
              <a:rPr lang="en-IN" dirty="0">
                <a:solidFill>
                  <a:srgbClr val="FF0000"/>
                </a:solidFill>
              </a:rPr>
              <a:t>202659 </a:t>
            </a:r>
          </a:p>
          <a:p>
            <a:r>
              <a:rPr lang="en-IN" dirty="0"/>
              <a:t>DENIED </a:t>
            </a:r>
            <a:r>
              <a:rPr lang="en-IN" dirty="0">
                <a:solidFill>
                  <a:srgbClr val="FF0000"/>
                </a:solidFill>
              </a:rPr>
              <a:t>94346</a:t>
            </a:r>
            <a:r>
              <a:rPr lang="en-IN" dirty="0"/>
              <a:t> </a:t>
            </a:r>
          </a:p>
          <a:p>
            <a:r>
              <a:rPr lang="en-IN" dirty="0"/>
              <a:t>WITHDRAWN </a:t>
            </a:r>
            <a:r>
              <a:rPr lang="en-IN" dirty="0">
                <a:solidFill>
                  <a:srgbClr val="FF0000"/>
                </a:solidFill>
              </a:rPr>
              <a:t>89799</a:t>
            </a:r>
            <a:r>
              <a:rPr lang="en-IN" dirty="0"/>
              <a:t> </a:t>
            </a:r>
          </a:p>
          <a:p>
            <a:r>
              <a:rPr lang="en-IN" dirty="0"/>
              <a:t>PENDING QUALITY AND COMPLIANCE REVIEW - UNASSIGNED </a:t>
            </a:r>
            <a:r>
              <a:rPr lang="en-IN" dirty="0">
                <a:solidFill>
                  <a:srgbClr val="FF0000"/>
                </a:solidFill>
              </a:rPr>
              <a:t>15</a:t>
            </a:r>
          </a:p>
          <a:p>
            <a:r>
              <a:rPr lang="en-IN" dirty="0"/>
              <a:t> REJECTED </a:t>
            </a:r>
            <a:r>
              <a:rPr lang="en-IN" dirty="0">
                <a:solidFill>
                  <a:srgbClr val="FF0000"/>
                </a:solidFill>
              </a:rPr>
              <a:t>2 </a:t>
            </a:r>
          </a:p>
          <a:p>
            <a:r>
              <a:rPr lang="en-IN" dirty="0"/>
              <a:t>INVALIDATED </a:t>
            </a:r>
            <a:r>
              <a:rPr lang="en-IN" dirty="0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03827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650D26-2F11-47ED-BDBF-97E41D862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sz="3100">
                <a:solidFill>
                  <a:srgbClr val="FFFFFF"/>
                </a:solidFill>
              </a:rPr>
              <a:t>EMPLOYER_NAME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D49F5-C45C-4EC1-80F1-3EE711787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200" dirty="0"/>
              <a:t>INFOSYS LIMITED </a:t>
            </a:r>
            <a:r>
              <a:rPr lang="en-IN" sz="2200" dirty="0">
                <a:solidFill>
                  <a:srgbClr val="FF0000"/>
                </a:solidFill>
              </a:rPr>
              <a:t>130592</a:t>
            </a:r>
            <a:r>
              <a:rPr lang="en-IN" sz="2200" dirty="0"/>
              <a:t> </a:t>
            </a:r>
          </a:p>
          <a:p>
            <a:pPr marL="0" indent="0">
              <a:buNone/>
            </a:pPr>
            <a:r>
              <a:rPr lang="en-IN" sz="2200" dirty="0"/>
              <a:t>TATA CONSULTANCY SERVICES LIMITED </a:t>
            </a:r>
            <a:r>
              <a:rPr lang="en-IN" sz="2200" dirty="0">
                <a:solidFill>
                  <a:srgbClr val="FF0000"/>
                </a:solidFill>
              </a:rPr>
              <a:t>64726</a:t>
            </a:r>
            <a:r>
              <a:rPr lang="en-IN" sz="2200" dirty="0"/>
              <a:t> </a:t>
            </a:r>
          </a:p>
          <a:p>
            <a:pPr marL="0" indent="0">
              <a:buNone/>
            </a:pPr>
            <a:r>
              <a:rPr lang="en-IN" sz="2200" dirty="0"/>
              <a:t>WIPRO LIMITED </a:t>
            </a:r>
            <a:r>
              <a:rPr lang="en-IN" sz="2200" dirty="0">
                <a:solidFill>
                  <a:srgbClr val="FF0000"/>
                </a:solidFill>
              </a:rPr>
              <a:t>48117</a:t>
            </a:r>
            <a:r>
              <a:rPr lang="en-IN" sz="2200" dirty="0"/>
              <a:t> </a:t>
            </a:r>
          </a:p>
          <a:p>
            <a:pPr marL="0" indent="0">
              <a:buNone/>
            </a:pPr>
            <a:r>
              <a:rPr lang="en-IN" sz="2200" dirty="0"/>
              <a:t>DELOITTE CONSULTING LLP </a:t>
            </a:r>
            <a:r>
              <a:rPr lang="en-IN" sz="2200" dirty="0">
                <a:solidFill>
                  <a:srgbClr val="FF0000"/>
                </a:solidFill>
              </a:rPr>
              <a:t>36742</a:t>
            </a:r>
            <a:r>
              <a:rPr lang="en-IN" sz="2200" dirty="0"/>
              <a:t> </a:t>
            </a:r>
          </a:p>
          <a:p>
            <a:pPr marL="0" indent="0">
              <a:buNone/>
            </a:pPr>
            <a:r>
              <a:rPr lang="en-IN" sz="2200" dirty="0"/>
              <a:t>IBM INDIA PRIVATE LIMITED </a:t>
            </a:r>
            <a:r>
              <a:rPr lang="en-IN" sz="2200" dirty="0">
                <a:solidFill>
                  <a:srgbClr val="FF0000"/>
                </a:solidFill>
              </a:rPr>
              <a:t>34219</a:t>
            </a:r>
            <a:r>
              <a:rPr lang="en-IN" sz="2200" dirty="0"/>
              <a:t> </a:t>
            </a:r>
          </a:p>
          <a:p>
            <a:pPr marL="0" indent="0">
              <a:buNone/>
            </a:pPr>
            <a:r>
              <a:rPr lang="en-IN" sz="2200" dirty="0"/>
              <a:t>... </a:t>
            </a:r>
          </a:p>
          <a:p>
            <a:pPr marL="0" indent="0">
              <a:buNone/>
            </a:pPr>
            <a:r>
              <a:rPr lang="en-IN" sz="2200" dirty="0"/>
              <a:t>EIGHT OF NINE CONSULTING LLC </a:t>
            </a:r>
            <a:r>
              <a:rPr lang="en-IN" sz="2200" dirty="0">
                <a:solidFill>
                  <a:srgbClr val="FF0000"/>
                </a:solidFill>
              </a:rPr>
              <a:t>1</a:t>
            </a:r>
            <a:r>
              <a:rPr lang="en-IN" sz="2200" dirty="0"/>
              <a:t> </a:t>
            </a:r>
          </a:p>
          <a:p>
            <a:pPr marL="0" indent="0">
              <a:buNone/>
            </a:pPr>
            <a:r>
              <a:rPr lang="en-IN" sz="2200" dirty="0"/>
              <a:t>CATHOLIC SOCIAL SERVICES OF WASHTENAW COUNTY </a:t>
            </a:r>
            <a:r>
              <a:rPr lang="en-IN" sz="2200" dirty="0">
                <a:solidFill>
                  <a:srgbClr val="FF0000"/>
                </a:solidFill>
              </a:rPr>
              <a:t>1</a:t>
            </a:r>
            <a:r>
              <a:rPr lang="en-IN" sz="2200" dirty="0"/>
              <a:t> </a:t>
            </a:r>
          </a:p>
          <a:p>
            <a:pPr marL="0" indent="0">
              <a:buNone/>
            </a:pPr>
            <a:r>
              <a:rPr lang="en-IN" sz="2200" dirty="0"/>
              <a:t>GRAPHIC SECURITY SYSTEMS CORP </a:t>
            </a:r>
            <a:r>
              <a:rPr lang="en-IN" sz="2200" dirty="0">
                <a:solidFill>
                  <a:srgbClr val="FF0000"/>
                </a:solidFill>
              </a:rPr>
              <a:t>1</a:t>
            </a:r>
            <a:r>
              <a:rPr lang="en-IN" sz="2200" dirty="0"/>
              <a:t> </a:t>
            </a:r>
          </a:p>
          <a:p>
            <a:pPr marL="0" indent="0">
              <a:buNone/>
            </a:pPr>
            <a:r>
              <a:rPr lang="en-IN" sz="2200" dirty="0"/>
              <a:t>WEAR ABOUT APPAREL INC. </a:t>
            </a:r>
            <a:r>
              <a:rPr lang="en-IN" sz="2200" dirty="0">
                <a:solidFill>
                  <a:srgbClr val="FF0000"/>
                </a:solidFill>
              </a:rPr>
              <a:t>1</a:t>
            </a:r>
            <a:r>
              <a:rPr lang="en-IN" sz="2200" dirty="0"/>
              <a:t> </a:t>
            </a:r>
          </a:p>
          <a:p>
            <a:pPr marL="0" indent="0">
              <a:buNone/>
            </a:pPr>
            <a:r>
              <a:rPr lang="en-IN" sz="2200" dirty="0"/>
              <a:t>VCORE TECHNOLOGY PARTNERS LLC </a:t>
            </a:r>
            <a:r>
              <a:rPr lang="en-IN" sz="2200" dirty="0">
                <a:solidFill>
                  <a:srgbClr val="FF0000"/>
                </a:solidFill>
              </a:rPr>
              <a:t>1</a:t>
            </a:r>
            <a:r>
              <a:rPr lang="en-IN" sz="2200" dirty="0"/>
              <a:t> </a:t>
            </a:r>
          </a:p>
          <a:p>
            <a:pPr marL="0" indent="0">
              <a:buNone/>
            </a:pPr>
            <a:r>
              <a:rPr lang="en-IN" sz="2200" dirty="0"/>
              <a:t>Name: EMPLOYER_NAME, Length: </a:t>
            </a:r>
            <a:r>
              <a:rPr lang="en-IN" sz="2200" dirty="0">
                <a:solidFill>
                  <a:srgbClr val="FF0000"/>
                </a:solidFill>
              </a:rPr>
              <a:t>236013</a:t>
            </a:r>
            <a:r>
              <a:rPr lang="en-IN" sz="2200" dirty="0"/>
              <a:t>, </a:t>
            </a:r>
            <a:r>
              <a:rPr lang="en-IN" sz="2200" dirty="0" err="1"/>
              <a:t>dtype</a:t>
            </a:r>
            <a:r>
              <a:rPr lang="en-IN" sz="2200" dirty="0"/>
              <a:t>: int64</a:t>
            </a:r>
          </a:p>
        </p:txBody>
      </p:sp>
    </p:spTree>
    <p:extLst>
      <p:ext uri="{BB962C8B-B14F-4D97-AF65-F5344CB8AC3E}">
        <p14:creationId xmlns:p14="http://schemas.microsoft.com/office/powerpoint/2010/main" val="1598493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3B848B-D314-4104-ABEE-FA2F339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SOC_NAME</a:t>
            </a:r>
          </a:p>
        </p:txBody>
      </p:sp>
      <p:sp>
        <p:nvSpPr>
          <p:cNvPr id="16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EC578-0489-4B69-93B1-907D43D41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200" dirty="0"/>
              <a:t>Computer Systems Analysts </a:t>
            </a:r>
            <a:r>
              <a:rPr lang="en-IN" sz="2200" dirty="0">
                <a:solidFill>
                  <a:srgbClr val="FF0000"/>
                </a:solidFill>
              </a:rPr>
              <a:t>291170</a:t>
            </a:r>
            <a:r>
              <a:rPr lang="en-IN" sz="2200" dirty="0"/>
              <a:t> </a:t>
            </a:r>
          </a:p>
          <a:p>
            <a:pPr marL="0" indent="0">
              <a:buNone/>
            </a:pPr>
            <a:r>
              <a:rPr lang="en-IN" sz="2200" dirty="0"/>
              <a:t>Computer Programmers </a:t>
            </a:r>
            <a:r>
              <a:rPr lang="en-IN" sz="2200" dirty="0">
                <a:solidFill>
                  <a:srgbClr val="FF0000"/>
                </a:solidFill>
              </a:rPr>
              <a:t>226574</a:t>
            </a:r>
            <a:r>
              <a:rPr lang="en-IN" sz="2200" dirty="0"/>
              <a:t> </a:t>
            </a:r>
          </a:p>
          <a:p>
            <a:pPr marL="0" indent="0">
              <a:buNone/>
            </a:pPr>
            <a:r>
              <a:rPr lang="en-IN" sz="2200" dirty="0"/>
              <a:t>SOFTWARE DEVELOPERS, APPLICATIONS </a:t>
            </a:r>
            <a:r>
              <a:rPr lang="en-IN" sz="2200" dirty="0">
                <a:solidFill>
                  <a:srgbClr val="FF0000"/>
                </a:solidFill>
              </a:rPr>
              <a:t>221783</a:t>
            </a:r>
            <a:r>
              <a:rPr lang="en-IN" sz="2200" dirty="0"/>
              <a:t> </a:t>
            </a:r>
          </a:p>
          <a:p>
            <a:pPr marL="0" indent="0">
              <a:buNone/>
            </a:pPr>
            <a:r>
              <a:rPr lang="en-IN" sz="2200" dirty="0"/>
              <a:t>COMPUTER SYSTEMS ANALYSTS </a:t>
            </a:r>
            <a:r>
              <a:rPr lang="en-IN" sz="2200" dirty="0">
                <a:solidFill>
                  <a:srgbClr val="FF0000"/>
                </a:solidFill>
              </a:rPr>
              <a:t>215353</a:t>
            </a:r>
            <a:r>
              <a:rPr lang="en-IN" sz="2200" dirty="0"/>
              <a:t> </a:t>
            </a:r>
          </a:p>
          <a:p>
            <a:pPr marL="0" indent="0">
              <a:buNone/>
            </a:pPr>
            <a:r>
              <a:rPr lang="en-IN" sz="2200" dirty="0"/>
              <a:t>Software Developers, Applications </a:t>
            </a:r>
            <a:r>
              <a:rPr lang="en-IN" sz="2200" dirty="0">
                <a:solidFill>
                  <a:srgbClr val="FF0000"/>
                </a:solidFill>
              </a:rPr>
              <a:t>192933</a:t>
            </a:r>
            <a:r>
              <a:rPr lang="en-IN" sz="2200" dirty="0"/>
              <a:t> </a:t>
            </a:r>
          </a:p>
          <a:p>
            <a:pPr marL="0" indent="0">
              <a:buNone/>
            </a:pPr>
            <a:r>
              <a:rPr lang="en-IN" sz="2200" dirty="0"/>
              <a:t>... </a:t>
            </a:r>
          </a:p>
          <a:p>
            <a:pPr marL="0" indent="0">
              <a:buNone/>
            </a:pPr>
            <a:r>
              <a:rPr lang="en-IN" sz="2200" dirty="0"/>
              <a:t>CHEMIST </a:t>
            </a:r>
            <a:r>
              <a:rPr lang="en-IN" sz="2200" dirty="0">
                <a:solidFill>
                  <a:srgbClr val="FF0000"/>
                </a:solidFill>
              </a:rPr>
              <a:t>1</a:t>
            </a:r>
            <a:r>
              <a:rPr lang="en-IN" sz="2200" dirty="0"/>
              <a:t> </a:t>
            </a:r>
          </a:p>
          <a:p>
            <a:pPr marL="0" indent="0">
              <a:buNone/>
            </a:pPr>
            <a:r>
              <a:rPr lang="en-IN" sz="2200" dirty="0"/>
              <a:t>PROPERTY REAL ESTATE &amp; COMMUNITY ASSOCIATION MGRS </a:t>
            </a:r>
            <a:r>
              <a:rPr lang="en-IN" sz="2200" dirty="0">
                <a:solidFill>
                  <a:srgbClr val="FF0000"/>
                </a:solidFill>
              </a:rPr>
              <a:t>1 </a:t>
            </a:r>
          </a:p>
          <a:p>
            <a:pPr marL="0" indent="0">
              <a:buNone/>
            </a:pPr>
            <a:r>
              <a:rPr lang="en-IN" sz="2200" dirty="0"/>
              <a:t>POSTSECONDARY TEACHERS, ALL OTHERS </a:t>
            </a:r>
            <a:r>
              <a:rPr lang="en-IN" sz="2200" dirty="0">
                <a:solidFill>
                  <a:srgbClr val="FF0000"/>
                </a:solidFill>
              </a:rPr>
              <a:t>1</a:t>
            </a:r>
            <a:r>
              <a:rPr lang="en-IN" sz="2200" dirty="0"/>
              <a:t> </a:t>
            </a:r>
          </a:p>
          <a:p>
            <a:pPr marL="0" indent="0">
              <a:buNone/>
            </a:pPr>
            <a:r>
              <a:rPr lang="en-IN" sz="2200" dirty="0"/>
              <a:t>SOFTARE DEVELOPERS, APPLICATIONS </a:t>
            </a:r>
            <a:r>
              <a:rPr lang="en-IN" sz="2200" dirty="0">
                <a:solidFill>
                  <a:srgbClr val="FF0000"/>
                </a:solidFill>
              </a:rPr>
              <a:t>1</a:t>
            </a:r>
            <a:r>
              <a:rPr lang="en-IN" sz="2200" dirty="0"/>
              <a:t> </a:t>
            </a:r>
          </a:p>
          <a:p>
            <a:pPr marL="0" indent="0">
              <a:buNone/>
            </a:pPr>
            <a:r>
              <a:rPr lang="en-IN" sz="2200" dirty="0"/>
              <a:t>PHOTOGRAPHIC PROCESS WORKERS AND PROCESSING </a:t>
            </a:r>
            <a:r>
              <a:rPr lang="en-IN" sz="2200" dirty="0">
                <a:solidFill>
                  <a:srgbClr val="FF0000"/>
                </a:solidFill>
              </a:rPr>
              <a:t>1</a:t>
            </a:r>
            <a:r>
              <a:rPr lang="en-IN" sz="2200" dirty="0"/>
              <a:t> </a:t>
            </a:r>
          </a:p>
          <a:p>
            <a:pPr marL="0" indent="0">
              <a:buNone/>
            </a:pPr>
            <a:r>
              <a:rPr lang="en-IN" sz="2200" dirty="0"/>
              <a:t>Name: SOC_NAME, Length: </a:t>
            </a:r>
            <a:r>
              <a:rPr lang="en-IN" sz="2200" dirty="0">
                <a:solidFill>
                  <a:srgbClr val="FF0000"/>
                </a:solidFill>
              </a:rPr>
              <a:t>2132</a:t>
            </a:r>
            <a:r>
              <a:rPr lang="en-IN" sz="2200" dirty="0"/>
              <a:t>, </a:t>
            </a:r>
            <a:r>
              <a:rPr lang="en-IN" sz="2200" dirty="0" err="1"/>
              <a:t>dtype</a:t>
            </a:r>
            <a:r>
              <a:rPr lang="en-IN" sz="2200" dirty="0"/>
              <a:t>: int64</a:t>
            </a:r>
          </a:p>
        </p:txBody>
      </p:sp>
    </p:spTree>
    <p:extLst>
      <p:ext uri="{BB962C8B-B14F-4D97-AF65-F5344CB8AC3E}">
        <p14:creationId xmlns:p14="http://schemas.microsoft.com/office/powerpoint/2010/main" val="1871322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CC1B6C-C344-46AF-908A-8D714962F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JOB_TITLE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7FDBB-8D60-4968-919A-7379F8F21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IN" sz="2400" dirty="0"/>
              <a:t>SOFTWARE ENGINEER </a:t>
            </a:r>
            <a:r>
              <a:rPr lang="en-IN" sz="2400" dirty="0">
                <a:solidFill>
                  <a:srgbClr val="FF0000"/>
                </a:solidFill>
              </a:rPr>
              <a:t>121307</a:t>
            </a:r>
          </a:p>
          <a:p>
            <a:pPr marL="0" indent="0">
              <a:buNone/>
            </a:pPr>
            <a:r>
              <a:rPr lang="en-IN" sz="2400" dirty="0"/>
              <a:t> PROGRAMMER ANALYST </a:t>
            </a:r>
            <a:r>
              <a:rPr lang="en-IN" sz="2400" dirty="0">
                <a:solidFill>
                  <a:srgbClr val="FF0000"/>
                </a:solidFill>
              </a:rPr>
              <a:t>249038</a:t>
            </a:r>
            <a:r>
              <a:rPr lang="en-IN" sz="2400" dirty="0"/>
              <a:t> </a:t>
            </a:r>
          </a:p>
          <a:p>
            <a:pPr marL="0" indent="0">
              <a:buNone/>
            </a:pPr>
            <a:r>
              <a:rPr lang="en-IN" sz="2400" dirty="0"/>
              <a:t>COMPUTER PROGRAMMER </a:t>
            </a:r>
            <a:r>
              <a:rPr lang="en-IN" sz="2400" dirty="0">
                <a:solidFill>
                  <a:srgbClr val="FF0000"/>
                </a:solidFill>
              </a:rPr>
              <a:t>70570</a:t>
            </a:r>
            <a:r>
              <a:rPr lang="en-IN" sz="2400" dirty="0"/>
              <a:t> </a:t>
            </a:r>
          </a:p>
          <a:p>
            <a:pPr marL="0" indent="0">
              <a:buNone/>
            </a:pPr>
            <a:r>
              <a:rPr lang="en-IN" sz="2400" dirty="0"/>
              <a:t>SYSTEMS ANALYST </a:t>
            </a:r>
            <a:r>
              <a:rPr lang="en-IN" sz="2400" dirty="0">
                <a:solidFill>
                  <a:srgbClr val="FF0000"/>
                </a:solidFill>
              </a:rPr>
              <a:t>61965</a:t>
            </a:r>
            <a:r>
              <a:rPr lang="en-IN" sz="2400" dirty="0"/>
              <a:t> </a:t>
            </a:r>
          </a:p>
          <a:p>
            <a:pPr marL="0" indent="0">
              <a:buNone/>
            </a:pPr>
            <a:r>
              <a:rPr lang="en-IN" sz="2400" dirty="0"/>
              <a:t>SOFTWARE DEVELOPER </a:t>
            </a:r>
            <a:r>
              <a:rPr lang="en-IN" sz="2400" dirty="0">
                <a:solidFill>
                  <a:srgbClr val="FF0000"/>
                </a:solidFill>
              </a:rPr>
              <a:t>42907</a:t>
            </a:r>
          </a:p>
          <a:p>
            <a:pPr marL="0" indent="0">
              <a:buNone/>
            </a:pPr>
            <a:r>
              <a:rPr lang="en-IN" sz="2400" dirty="0"/>
              <a:t> ... MANAGER, STRATEGIC VALUE CHAIN &amp; PARTNERSHIPS </a:t>
            </a:r>
            <a:r>
              <a:rPr lang="en-IN" sz="2400" dirty="0">
                <a:solidFill>
                  <a:srgbClr val="FF0000"/>
                </a:solidFill>
              </a:rPr>
              <a:t>1 </a:t>
            </a:r>
          </a:p>
          <a:p>
            <a:pPr marL="0" indent="0">
              <a:buNone/>
            </a:pPr>
            <a:r>
              <a:rPr lang="en-IN" sz="2400" dirty="0"/>
              <a:t>SR. CONSULTANT- FUNCTIONAL COMPETENCY </a:t>
            </a:r>
            <a:r>
              <a:rPr lang="en-IN" sz="2400" dirty="0">
                <a:solidFill>
                  <a:srgbClr val="FF0000"/>
                </a:solidFill>
              </a:rPr>
              <a:t>1 </a:t>
            </a:r>
          </a:p>
          <a:p>
            <a:pPr marL="0" indent="0">
              <a:buNone/>
            </a:pPr>
            <a:r>
              <a:rPr lang="en-IN" sz="2400" dirty="0"/>
              <a:t>MANAGER, TEST &amp;AMP; QUALITY MANAGEMENT </a:t>
            </a:r>
            <a:r>
              <a:rPr lang="en-IN" sz="2400" dirty="0">
                <a:solidFill>
                  <a:srgbClr val="FF0000"/>
                </a:solidFill>
              </a:rPr>
              <a:t>1</a:t>
            </a:r>
            <a:r>
              <a:rPr lang="en-IN" sz="2400" dirty="0"/>
              <a:t> </a:t>
            </a:r>
          </a:p>
          <a:p>
            <a:pPr marL="0" indent="0">
              <a:buNone/>
            </a:pPr>
            <a:r>
              <a:rPr lang="en-IN" sz="2400" dirty="0"/>
              <a:t>SENIOR VICE PRESIDENT; CORP. INV. PORTFOLIO MANAGER </a:t>
            </a:r>
            <a:r>
              <a:rPr lang="en-IN" sz="2400" dirty="0">
                <a:solidFill>
                  <a:srgbClr val="FF0000"/>
                </a:solidFill>
              </a:rPr>
              <a:t>1</a:t>
            </a:r>
            <a:r>
              <a:rPr lang="en-IN" sz="2400" dirty="0"/>
              <a:t> </a:t>
            </a:r>
          </a:p>
          <a:p>
            <a:pPr marL="0" indent="0">
              <a:buNone/>
            </a:pPr>
            <a:r>
              <a:rPr lang="en-IN" sz="2400" dirty="0"/>
              <a:t>SELF-SUFFICIENCY COUNSELOR </a:t>
            </a:r>
            <a:r>
              <a:rPr lang="en-IN" sz="2400" dirty="0">
                <a:solidFill>
                  <a:srgbClr val="FF0000"/>
                </a:solidFill>
              </a:rPr>
              <a:t>1</a:t>
            </a:r>
            <a:r>
              <a:rPr lang="en-IN" sz="2400" dirty="0"/>
              <a:t> </a:t>
            </a:r>
          </a:p>
          <a:p>
            <a:pPr marL="0" indent="0">
              <a:buNone/>
            </a:pPr>
            <a:r>
              <a:rPr lang="en-IN" sz="2400" dirty="0"/>
              <a:t>Name: JOB_TITLE, Length: </a:t>
            </a:r>
            <a:r>
              <a:rPr lang="en-IN" sz="2400" dirty="0">
                <a:solidFill>
                  <a:srgbClr val="FF0000"/>
                </a:solidFill>
              </a:rPr>
              <a:t>287549</a:t>
            </a:r>
            <a:r>
              <a:rPr lang="en-IN" sz="2400" dirty="0"/>
              <a:t>, </a:t>
            </a:r>
            <a:r>
              <a:rPr lang="en-IN" sz="2400" dirty="0" err="1"/>
              <a:t>dtype</a:t>
            </a:r>
            <a:r>
              <a:rPr lang="en-IN" sz="2400" dirty="0"/>
              <a:t>: int64</a:t>
            </a:r>
          </a:p>
        </p:txBody>
      </p:sp>
    </p:spTree>
    <p:extLst>
      <p:ext uri="{BB962C8B-B14F-4D97-AF65-F5344CB8AC3E}">
        <p14:creationId xmlns:p14="http://schemas.microsoft.com/office/powerpoint/2010/main" val="635117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122F9423-F4B1-45D4-8445-E9991ECCB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7F98E3-2700-4F53-AF4E-B28FDDFD6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2897" y="518649"/>
            <a:ext cx="9882278" cy="1067634"/>
          </a:xfrm>
        </p:spPr>
        <p:txBody>
          <a:bodyPr anchor="ctr">
            <a:normAutofit/>
          </a:bodyPr>
          <a:lstStyle/>
          <a:p>
            <a:r>
              <a:rPr lang="en-IN"/>
              <a:t>FULL_TIME_POSITION</a:t>
            </a:r>
            <a:endParaRPr lang="en-IN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70AE191-D2EA-45C9-A44D-830C188F7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2021" y="628863"/>
            <a:ext cx="1128382" cy="847206"/>
            <a:chOff x="8183879" y="1000124"/>
            <a:chExt cx="1562267" cy="1172973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23A0E4C1-B7A6-4637-AC51-4A5AE3841F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F4E8C039-CC58-44F3-8A7B-E0A934C1D0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4E13EF66-F00B-47FD-88B2-8D83F00E27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69420"/>
              </p:ext>
            </p:extLst>
          </p:nvPr>
        </p:nvGraphicFramePr>
        <p:xfrm>
          <a:off x="629854" y="1860604"/>
          <a:ext cx="10907490" cy="40949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79506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A07899-79B1-4D26-9F6B-853EFFDCA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sz="2800">
                <a:solidFill>
                  <a:srgbClr val="FFFFFF"/>
                </a:solidFill>
              </a:rPr>
              <a:t>PREVAILING_WAGE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51397-66B1-470F-8116-DE969FC42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400" dirty="0"/>
              <a:t>60000.00 </a:t>
            </a:r>
            <a:r>
              <a:rPr lang="en-IN" sz="2400" dirty="0">
                <a:solidFill>
                  <a:srgbClr val="FF0000"/>
                </a:solidFill>
              </a:rPr>
              <a:t>10354</a:t>
            </a:r>
            <a:r>
              <a:rPr lang="en-IN" sz="2400" dirty="0"/>
              <a:t> </a:t>
            </a:r>
          </a:p>
          <a:p>
            <a:pPr marL="0" indent="0">
              <a:buNone/>
            </a:pPr>
            <a:r>
              <a:rPr lang="en-IN" sz="2400" dirty="0"/>
              <a:t>55245.00 </a:t>
            </a:r>
            <a:r>
              <a:rPr lang="en-IN" sz="2400" dirty="0">
                <a:solidFill>
                  <a:srgbClr val="FF0000"/>
                </a:solidFill>
              </a:rPr>
              <a:t>6865</a:t>
            </a:r>
            <a:r>
              <a:rPr lang="en-IN" sz="2400" dirty="0"/>
              <a:t> </a:t>
            </a:r>
          </a:p>
          <a:p>
            <a:pPr marL="0" indent="0">
              <a:buNone/>
            </a:pPr>
            <a:r>
              <a:rPr lang="en-IN" sz="2400" dirty="0"/>
              <a:t>62566.00 </a:t>
            </a:r>
            <a:r>
              <a:rPr lang="en-IN" sz="2400" dirty="0">
                <a:solidFill>
                  <a:srgbClr val="FF0000"/>
                </a:solidFill>
              </a:rPr>
              <a:t>6655</a:t>
            </a:r>
            <a:r>
              <a:rPr lang="en-IN" sz="2400" dirty="0"/>
              <a:t> </a:t>
            </a:r>
          </a:p>
          <a:p>
            <a:pPr marL="0" indent="0">
              <a:buNone/>
            </a:pPr>
            <a:r>
              <a:rPr lang="en-IN" sz="2400" dirty="0"/>
              <a:t>58053.00 </a:t>
            </a:r>
            <a:r>
              <a:rPr lang="en-IN" sz="2400" dirty="0">
                <a:solidFill>
                  <a:srgbClr val="FF0000"/>
                </a:solidFill>
              </a:rPr>
              <a:t>5755</a:t>
            </a:r>
            <a:r>
              <a:rPr lang="en-IN" sz="2400" dirty="0"/>
              <a:t> </a:t>
            </a:r>
          </a:p>
          <a:p>
            <a:pPr marL="0" indent="0">
              <a:buNone/>
            </a:pPr>
            <a:r>
              <a:rPr lang="en-IN" sz="2400" dirty="0"/>
              <a:t>52499.00 </a:t>
            </a:r>
            <a:r>
              <a:rPr lang="en-IN" sz="2400" dirty="0">
                <a:solidFill>
                  <a:srgbClr val="FF0000"/>
                </a:solidFill>
              </a:rPr>
              <a:t>5561</a:t>
            </a:r>
          </a:p>
          <a:p>
            <a:pPr marL="0" indent="0">
              <a:buNone/>
            </a:pPr>
            <a:r>
              <a:rPr lang="en-IN" sz="2400" dirty="0"/>
              <a:t> ... 125465.60 </a:t>
            </a:r>
            <a:r>
              <a:rPr lang="en-IN" sz="2400" dirty="0">
                <a:solidFill>
                  <a:srgbClr val="FF0000"/>
                </a:solidFill>
              </a:rPr>
              <a:t>1</a:t>
            </a:r>
            <a:r>
              <a:rPr lang="en-IN" sz="2400" dirty="0"/>
              <a:t> </a:t>
            </a:r>
          </a:p>
          <a:p>
            <a:pPr marL="0" indent="0">
              <a:buNone/>
            </a:pPr>
            <a:r>
              <a:rPr lang="en-IN" sz="2400" dirty="0"/>
              <a:t>20690.00 </a:t>
            </a:r>
            <a:r>
              <a:rPr lang="en-IN" sz="2400" dirty="0">
                <a:solidFill>
                  <a:srgbClr val="FF0000"/>
                </a:solidFill>
              </a:rPr>
              <a:t>1</a:t>
            </a:r>
            <a:r>
              <a:rPr lang="en-IN" sz="2400" dirty="0"/>
              <a:t> </a:t>
            </a:r>
          </a:p>
          <a:p>
            <a:pPr marL="0" indent="0">
              <a:buNone/>
            </a:pPr>
            <a:r>
              <a:rPr lang="en-IN" sz="2400" dirty="0"/>
              <a:t>103940.00 </a:t>
            </a:r>
            <a:r>
              <a:rPr lang="en-IN" sz="2400" dirty="0">
                <a:solidFill>
                  <a:srgbClr val="FF0000"/>
                </a:solidFill>
              </a:rPr>
              <a:t>1</a:t>
            </a:r>
            <a:r>
              <a:rPr lang="en-IN" sz="2400" dirty="0"/>
              <a:t> </a:t>
            </a:r>
          </a:p>
          <a:p>
            <a:pPr marL="0" indent="0">
              <a:buNone/>
            </a:pPr>
            <a:r>
              <a:rPr lang="en-IN" sz="2400" dirty="0"/>
              <a:t>66987.00 </a:t>
            </a:r>
            <a:r>
              <a:rPr lang="en-IN" sz="2400" dirty="0">
                <a:solidFill>
                  <a:srgbClr val="FF0000"/>
                </a:solidFill>
              </a:rPr>
              <a:t>1</a:t>
            </a:r>
            <a:r>
              <a:rPr lang="en-IN" sz="2400" dirty="0"/>
              <a:t> </a:t>
            </a:r>
          </a:p>
          <a:p>
            <a:pPr marL="0" indent="0">
              <a:buNone/>
            </a:pPr>
            <a:r>
              <a:rPr lang="en-IN" sz="2400" dirty="0"/>
              <a:t>122015.33 </a:t>
            </a:r>
            <a:r>
              <a:rPr lang="en-IN" sz="2400" dirty="0">
                <a:solidFill>
                  <a:srgbClr val="FF0000"/>
                </a:solidFill>
              </a:rPr>
              <a:t>1</a:t>
            </a:r>
            <a:r>
              <a:rPr lang="en-IN" sz="2400" dirty="0"/>
              <a:t> </a:t>
            </a:r>
          </a:p>
          <a:p>
            <a:pPr marL="0" indent="0">
              <a:buNone/>
            </a:pPr>
            <a:r>
              <a:rPr lang="en-IN" sz="2400" dirty="0"/>
              <a:t>Name: PREVAILING_WAGE, Length: </a:t>
            </a:r>
            <a:r>
              <a:rPr lang="en-IN" sz="2400" dirty="0">
                <a:solidFill>
                  <a:srgbClr val="FF0000"/>
                </a:solidFill>
              </a:rPr>
              <a:t>56156</a:t>
            </a:r>
            <a:r>
              <a:rPr lang="en-IN" sz="2400" dirty="0"/>
              <a:t>, </a:t>
            </a:r>
            <a:r>
              <a:rPr lang="en-IN" sz="2400" dirty="0" err="1"/>
              <a:t>dtype</a:t>
            </a:r>
            <a:r>
              <a:rPr lang="en-IN" sz="2400" dirty="0"/>
              <a:t>: int64</a:t>
            </a:r>
          </a:p>
        </p:txBody>
      </p:sp>
    </p:spTree>
    <p:extLst>
      <p:ext uri="{BB962C8B-B14F-4D97-AF65-F5344CB8AC3E}">
        <p14:creationId xmlns:p14="http://schemas.microsoft.com/office/powerpoint/2010/main" val="660613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6F534D-FC85-4CAE-899B-E3D5DBA28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YEAR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6F4EF-8EC2-436B-AEDC-248BCDE26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IN" dirty="0"/>
              <a:t>2016.0 </a:t>
            </a:r>
            <a:r>
              <a:rPr lang="en-IN" dirty="0">
                <a:solidFill>
                  <a:srgbClr val="FF0000"/>
                </a:solidFill>
              </a:rPr>
              <a:t>647803</a:t>
            </a:r>
            <a:r>
              <a:rPr lang="en-IN" dirty="0"/>
              <a:t> </a:t>
            </a:r>
          </a:p>
          <a:p>
            <a:r>
              <a:rPr lang="en-IN" dirty="0"/>
              <a:t>2015.0 </a:t>
            </a:r>
            <a:r>
              <a:rPr lang="en-IN" dirty="0">
                <a:solidFill>
                  <a:srgbClr val="FF0000"/>
                </a:solidFill>
              </a:rPr>
              <a:t>618727</a:t>
            </a:r>
            <a:r>
              <a:rPr lang="en-IN" dirty="0"/>
              <a:t> </a:t>
            </a:r>
          </a:p>
          <a:p>
            <a:r>
              <a:rPr lang="en-IN" dirty="0"/>
              <a:t>2014.0 </a:t>
            </a:r>
            <a:r>
              <a:rPr lang="en-IN" dirty="0">
                <a:solidFill>
                  <a:srgbClr val="FF0000"/>
                </a:solidFill>
              </a:rPr>
              <a:t>519427</a:t>
            </a:r>
            <a:r>
              <a:rPr lang="en-IN" dirty="0"/>
              <a:t> </a:t>
            </a:r>
          </a:p>
          <a:p>
            <a:r>
              <a:rPr lang="en-IN" dirty="0"/>
              <a:t>2013.0 </a:t>
            </a:r>
            <a:r>
              <a:rPr lang="en-IN" dirty="0">
                <a:solidFill>
                  <a:srgbClr val="FF0000"/>
                </a:solidFill>
              </a:rPr>
              <a:t>442114</a:t>
            </a:r>
            <a:r>
              <a:rPr lang="en-IN" dirty="0"/>
              <a:t> </a:t>
            </a:r>
          </a:p>
          <a:p>
            <a:r>
              <a:rPr lang="en-IN" dirty="0"/>
              <a:t>2012.0 </a:t>
            </a:r>
            <a:r>
              <a:rPr lang="en-IN" dirty="0">
                <a:solidFill>
                  <a:srgbClr val="FF0000"/>
                </a:solidFill>
              </a:rPr>
              <a:t>415607</a:t>
            </a:r>
            <a:r>
              <a:rPr lang="en-IN" dirty="0"/>
              <a:t> </a:t>
            </a:r>
          </a:p>
          <a:p>
            <a:r>
              <a:rPr lang="en-IN" dirty="0"/>
              <a:t>2011.0 </a:t>
            </a:r>
            <a:r>
              <a:rPr lang="en-IN" dirty="0">
                <a:solidFill>
                  <a:srgbClr val="FF0000"/>
                </a:solidFill>
              </a:rPr>
              <a:t>358767</a:t>
            </a:r>
          </a:p>
        </p:txBody>
      </p:sp>
    </p:spTree>
    <p:extLst>
      <p:ext uri="{BB962C8B-B14F-4D97-AF65-F5344CB8AC3E}">
        <p14:creationId xmlns:p14="http://schemas.microsoft.com/office/powerpoint/2010/main" val="3446564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9CDBBC-4269-46BD-AB20-3F5D0FF95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WORKSITE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01317-415B-4BE4-82C8-8760BF3C6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600" dirty="0"/>
              <a:t>NEW YORK, NEW YORK </a:t>
            </a:r>
            <a:r>
              <a:rPr lang="en-IN" sz="2600" dirty="0">
                <a:solidFill>
                  <a:srgbClr val="FF0000"/>
                </a:solidFill>
              </a:rPr>
              <a:t>191719</a:t>
            </a:r>
            <a:r>
              <a:rPr lang="en-IN" sz="2600" dirty="0"/>
              <a:t> </a:t>
            </a:r>
          </a:p>
          <a:p>
            <a:pPr marL="0" indent="0">
              <a:buNone/>
            </a:pPr>
            <a:r>
              <a:rPr lang="en-IN" sz="2600" dirty="0"/>
              <a:t>HOUSTON, TEXAS </a:t>
            </a:r>
            <a:r>
              <a:rPr lang="en-IN" sz="2600" dirty="0">
                <a:solidFill>
                  <a:srgbClr val="FF0000"/>
                </a:solidFill>
              </a:rPr>
              <a:t>83889</a:t>
            </a:r>
            <a:r>
              <a:rPr lang="en-IN" sz="2600" dirty="0"/>
              <a:t> </a:t>
            </a:r>
          </a:p>
          <a:p>
            <a:pPr marL="0" indent="0">
              <a:buNone/>
            </a:pPr>
            <a:r>
              <a:rPr lang="en-IN" sz="2600" dirty="0"/>
              <a:t>SAN FRANCISCO, CALIFORNIA </a:t>
            </a:r>
            <a:r>
              <a:rPr lang="en-IN" sz="2600" dirty="0">
                <a:solidFill>
                  <a:srgbClr val="FF0000"/>
                </a:solidFill>
              </a:rPr>
              <a:t>62787</a:t>
            </a:r>
            <a:r>
              <a:rPr lang="en-IN" sz="2600" dirty="0"/>
              <a:t> </a:t>
            </a:r>
          </a:p>
          <a:p>
            <a:pPr marL="0" indent="0">
              <a:buNone/>
            </a:pPr>
            <a:r>
              <a:rPr lang="en-IN" sz="2600" dirty="0"/>
              <a:t>ATLANTA, GEORGIA </a:t>
            </a:r>
            <a:r>
              <a:rPr lang="en-IN" sz="2600" dirty="0">
                <a:solidFill>
                  <a:srgbClr val="FF0000"/>
                </a:solidFill>
              </a:rPr>
              <a:t>52193</a:t>
            </a:r>
            <a:r>
              <a:rPr lang="en-IN" sz="2600" dirty="0"/>
              <a:t> </a:t>
            </a:r>
          </a:p>
          <a:p>
            <a:pPr marL="0" indent="0">
              <a:buNone/>
            </a:pPr>
            <a:r>
              <a:rPr lang="en-IN" sz="2600" dirty="0"/>
              <a:t>CHICAGO, ILLINOIS </a:t>
            </a:r>
            <a:r>
              <a:rPr lang="en-IN" sz="2600" dirty="0">
                <a:solidFill>
                  <a:srgbClr val="FF0000"/>
                </a:solidFill>
              </a:rPr>
              <a:t>51497</a:t>
            </a:r>
            <a:r>
              <a:rPr lang="en-IN" sz="2600" dirty="0"/>
              <a:t> </a:t>
            </a:r>
          </a:p>
          <a:p>
            <a:pPr marL="0" indent="0">
              <a:buNone/>
            </a:pPr>
            <a:r>
              <a:rPr lang="en-IN" sz="2600" dirty="0"/>
              <a:t>... P.O. BOX 506, MISSOURI </a:t>
            </a:r>
            <a:r>
              <a:rPr lang="en-IN" sz="2600" dirty="0">
                <a:solidFill>
                  <a:srgbClr val="FF0000"/>
                </a:solidFill>
              </a:rPr>
              <a:t>1</a:t>
            </a:r>
            <a:r>
              <a:rPr lang="en-IN" sz="2600" dirty="0"/>
              <a:t> </a:t>
            </a:r>
          </a:p>
          <a:p>
            <a:pPr marL="0" indent="0">
              <a:buNone/>
            </a:pPr>
            <a:r>
              <a:rPr lang="en-IN" sz="2600" dirty="0"/>
              <a:t>ST. PETERSBURG, INDIANA </a:t>
            </a:r>
            <a:r>
              <a:rPr lang="en-IN" sz="2600" dirty="0">
                <a:solidFill>
                  <a:srgbClr val="FF0000"/>
                </a:solidFill>
              </a:rPr>
              <a:t>1</a:t>
            </a:r>
            <a:r>
              <a:rPr lang="en-IN" sz="2600" dirty="0"/>
              <a:t> </a:t>
            </a:r>
          </a:p>
          <a:p>
            <a:pPr marL="0" indent="0">
              <a:buNone/>
            </a:pPr>
            <a:r>
              <a:rPr lang="en-IN" sz="2600" dirty="0"/>
              <a:t>E LANSING, MICHIGAN </a:t>
            </a:r>
            <a:r>
              <a:rPr lang="en-IN" sz="2600" dirty="0">
                <a:solidFill>
                  <a:srgbClr val="FF0000"/>
                </a:solidFill>
              </a:rPr>
              <a:t>1</a:t>
            </a:r>
            <a:r>
              <a:rPr lang="en-IN" sz="2600" dirty="0"/>
              <a:t> </a:t>
            </a:r>
          </a:p>
          <a:p>
            <a:pPr marL="0" indent="0">
              <a:buNone/>
            </a:pPr>
            <a:r>
              <a:rPr lang="en-IN" sz="2600" dirty="0"/>
              <a:t>SOUTH ATTLEBORO, MASSACHUSETTS </a:t>
            </a:r>
            <a:r>
              <a:rPr lang="en-IN" sz="2600" dirty="0">
                <a:solidFill>
                  <a:srgbClr val="FF0000"/>
                </a:solidFill>
              </a:rPr>
              <a:t>1</a:t>
            </a:r>
            <a:r>
              <a:rPr lang="en-IN" sz="2600" dirty="0"/>
              <a:t> </a:t>
            </a:r>
          </a:p>
          <a:p>
            <a:pPr marL="0" indent="0">
              <a:buNone/>
            </a:pPr>
            <a:r>
              <a:rPr lang="en-IN" sz="2600" dirty="0"/>
              <a:t>JACKSON VILLE, FLORIDA </a:t>
            </a:r>
            <a:r>
              <a:rPr lang="en-IN" sz="2600" dirty="0">
                <a:solidFill>
                  <a:srgbClr val="FF0000"/>
                </a:solidFill>
              </a:rPr>
              <a:t>1</a:t>
            </a:r>
            <a:r>
              <a:rPr lang="en-IN" sz="2600" dirty="0"/>
              <a:t> </a:t>
            </a:r>
          </a:p>
          <a:p>
            <a:pPr marL="0" indent="0">
              <a:buNone/>
            </a:pPr>
            <a:r>
              <a:rPr lang="en-IN" sz="2600" dirty="0"/>
              <a:t>Name: WORKSITE, Length: </a:t>
            </a:r>
            <a:r>
              <a:rPr lang="en-IN" sz="2600" dirty="0">
                <a:solidFill>
                  <a:srgbClr val="FF0000"/>
                </a:solidFill>
              </a:rPr>
              <a:t>18622</a:t>
            </a:r>
            <a:r>
              <a:rPr lang="en-IN" sz="2600" dirty="0"/>
              <a:t>, </a:t>
            </a:r>
            <a:r>
              <a:rPr lang="en-IN" sz="2600" dirty="0" err="1"/>
              <a:t>dtype</a:t>
            </a:r>
            <a:r>
              <a:rPr lang="en-IN" sz="2600" dirty="0"/>
              <a:t>: int64</a:t>
            </a:r>
          </a:p>
        </p:txBody>
      </p:sp>
    </p:spTree>
    <p:extLst>
      <p:ext uri="{BB962C8B-B14F-4D97-AF65-F5344CB8AC3E}">
        <p14:creationId xmlns:p14="http://schemas.microsoft.com/office/powerpoint/2010/main" val="3236987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C93AD-2685-43BD-ADA2-DA3DE3842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sz="3700">
                <a:solidFill>
                  <a:srgbClr val="FFFFFF"/>
                </a:solidFill>
              </a:rPr>
              <a:t>Missing_values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3A1E1-2776-4FFB-9E78-EAC5CF2F7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IN" sz="2600" dirty="0"/>
              <a:t>Unnamed: 0 </a:t>
            </a:r>
            <a:r>
              <a:rPr lang="en-IN" sz="2600" dirty="0">
                <a:solidFill>
                  <a:srgbClr val="FF0000"/>
                </a:solidFill>
              </a:rPr>
              <a:t>0</a:t>
            </a:r>
            <a:r>
              <a:rPr lang="en-IN" sz="2600" dirty="0"/>
              <a:t> </a:t>
            </a:r>
          </a:p>
          <a:p>
            <a:r>
              <a:rPr lang="en-IN" sz="2600" dirty="0"/>
              <a:t>CASE_STATUS </a:t>
            </a:r>
            <a:r>
              <a:rPr lang="en-IN" sz="2600" dirty="0">
                <a:solidFill>
                  <a:srgbClr val="FF0000"/>
                </a:solidFill>
              </a:rPr>
              <a:t>13</a:t>
            </a:r>
            <a:r>
              <a:rPr lang="en-IN" sz="2600" dirty="0"/>
              <a:t> </a:t>
            </a:r>
          </a:p>
          <a:p>
            <a:r>
              <a:rPr lang="en-IN" sz="2600" dirty="0"/>
              <a:t>EMPLOYER_NAME </a:t>
            </a:r>
            <a:r>
              <a:rPr lang="en-IN" sz="2600" dirty="0">
                <a:solidFill>
                  <a:srgbClr val="FF0000"/>
                </a:solidFill>
              </a:rPr>
              <a:t>59 </a:t>
            </a:r>
          </a:p>
          <a:p>
            <a:r>
              <a:rPr lang="en-IN" sz="2600" dirty="0"/>
              <a:t>SOC_NAME </a:t>
            </a:r>
            <a:r>
              <a:rPr lang="en-IN" sz="2600" dirty="0">
                <a:solidFill>
                  <a:srgbClr val="FF0000"/>
                </a:solidFill>
              </a:rPr>
              <a:t>17734</a:t>
            </a:r>
            <a:r>
              <a:rPr lang="en-IN" sz="2600" dirty="0"/>
              <a:t> </a:t>
            </a:r>
          </a:p>
          <a:p>
            <a:r>
              <a:rPr lang="en-IN" sz="2600" dirty="0"/>
              <a:t>JOB_TITLE </a:t>
            </a:r>
            <a:r>
              <a:rPr lang="en-IN" sz="2600" dirty="0">
                <a:solidFill>
                  <a:srgbClr val="FF0000"/>
                </a:solidFill>
              </a:rPr>
              <a:t>43</a:t>
            </a:r>
            <a:r>
              <a:rPr lang="en-IN" sz="2600" dirty="0"/>
              <a:t> </a:t>
            </a:r>
          </a:p>
          <a:p>
            <a:r>
              <a:rPr lang="en-IN" sz="2600" dirty="0"/>
              <a:t>FULL_TIME_POSITION </a:t>
            </a:r>
            <a:r>
              <a:rPr lang="en-IN" sz="2600" dirty="0">
                <a:solidFill>
                  <a:srgbClr val="FF0000"/>
                </a:solidFill>
              </a:rPr>
              <a:t>15</a:t>
            </a:r>
            <a:r>
              <a:rPr lang="en-IN" sz="2600" dirty="0"/>
              <a:t> </a:t>
            </a:r>
          </a:p>
          <a:p>
            <a:r>
              <a:rPr lang="en-IN" sz="2600" dirty="0"/>
              <a:t>PREVAILING_WAGE 85 </a:t>
            </a:r>
          </a:p>
          <a:p>
            <a:r>
              <a:rPr lang="en-IN" sz="2600" dirty="0"/>
              <a:t>YEAR </a:t>
            </a:r>
            <a:r>
              <a:rPr lang="en-IN" sz="2600" dirty="0">
                <a:solidFill>
                  <a:srgbClr val="FF0000"/>
                </a:solidFill>
              </a:rPr>
              <a:t>13</a:t>
            </a:r>
            <a:r>
              <a:rPr lang="en-IN" sz="2600" dirty="0"/>
              <a:t> </a:t>
            </a:r>
          </a:p>
          <a:p>
            <a:r>
              <a:rPr lang="en-IN" sz="2600" dirty="0"/>
              <a:t>WORKSITE </a:t>
            </a:r>
            <a:r>
              <a:rPr lang="en-IN" sz="2600" dirty="0">
                <a:solidFill>
                  <a:srgbClr val="FF0000"/>
                </a:solidFill>
              </a:rPr>
              <a:t>0</a:t>
            </a:r>
            <a:r>
              <a:rPr lang="en-IN" sz="2600" dirty="0"/>
              <a:t> </a:t>
            </a:r>
          </a:p>
          <a:p>
            <a:r>
              <a:rPr lang="en-IN" sz="2600" dirty="0" err="1"/>
              <a:t>lon</a:t>
            </a:r>
            <a:r>
              <a:rPr lang="en-IN" sz="2600" dirty="0"/>
              <a:t> </a:t>
            </a:r>
            <a:r>
              <a:rPr lang="en-IN" sz="2600" dirty="0">
                <a:solidFill>
                  <a:srgbClr val="FF0000"/>
                </a:solidFill>
              </a:rPr>
              <a:t>107242</a:t>
            </a:r>
            <a:r>
              <a:rPr lang="en-IN" sz="2600" dirty="0"/>
              <a:t> </a:t>
            </a:r>
          </a:p>
          <a:p>
            <a:r>
              <a:rPr lang="en-IN" sz="2600" dirty="0" err="1"/>
              <a:t>lat</a:t>
            </a:r>
            <a:r>
              <a:rPr lang="en-IN" sz="2600" dirty="0"/>
              <a:t> </a:t>
            </a:r>
            <a:r>
              <a:rPr lang="en-IN" sz="2600" dirty="0">
                <a:solidFill>
                  <a:srgbClr val="FF0000"/>
                </a:solidFill>
              </a:rPr>
              <a:t>107242</a:t>
            </a:r>
            <a:r>
              <a:rPr lang="en-IN" sz="2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3883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6422CD-2DC3-4122-B759-0B28D8A80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Final Columns of Dataset.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F8E85-ACAD-4C7D-9B89-4EE567A05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IN" sz="1500" dirty="0"/>
              <a:t>CASE_STATUS </a:t>
            </a:r>
            <a:r>
              <a:rPr lang="en-IN" sz="1500" dirty="0">
                <a:solidFill>
                  <a:srgbClr val="FF0000"/>
                </a:solidFill>
              </a:rPr>
              <a:t>int64</a:t>
            </a:r>
          </a:p>
          <a:p>
            <a:r>
              <a:rPr lang="en-IN" sz="1500" dirty="0"/>
              <a:t>JOB_TITLE </a:t>
            </a:r>
            <a:r>
              <a:rPr lang="en-IN" sz="1500" dirty="0">
                <a:solidFill>
                  <a:srgbClr val="FF0000"/>
                </a:solidFill>
              </a:rPr>
              <a:t>int64</a:t>
            </a:r>
            <a:r>
              <a:rPr lang="en-IN" sz="1500" dirty="0"/>
              <a:t> </a:t>
            </a:r>
          </a:p>
          <a:p>
            <a:r>
              <a:rPr lang="en-IN" sz="1500" dirty="0"/>
              <a:t>FULL_TIME_POSITION </a:t>
            </a:r>
            <a:r>
              <a:rPr lang="en-IN" sz="1500" dirty="0">
                <a:solidFill>
                  <a:srgbClr val="FF0000"/>
                </a:solidFill>
              </a:rPr>
              <a:t>int64</a:t>
            </a:r>
            <a:r>
              <a:rPr lang="en-IN" sz="1500" dirty="0"/>
              <a:t> </a:t>
            </a:r>
          </a:p>
          <a:p>
            <a:r>
              <a:rPr lang="en-IN" sz="1500" dirty="0"/>
              <a:t>Employer </a:t>
            </a:r>
            <a:r>
              <a:rPr lang="en-IN" sz="1500" dirty="0">
                <a:solidFill>
                  <a:srgbClr val="FF0000"/>
                </a:solidFill>
              </a:rPr>
              <a:t>int64</a:t>
            </a:r>
            <a:r>
              <a:rPr lang="en-IN" sz="1500" dirty="0"/>
              <a:t>  </a:t>
            </a:r>
          </a:p>
          <a:p>
            <a:r>
              <a:rPr lang="en-IN" sz="1500" dirty="0"/>
              <a:t>Worksite_1 </a:t>
            </a:r>
            <a:r>
              <a:rPr lang="en-IN" sz="1500" dirty="0">
                <a:solidFill>
                  <a:srgbClr val="FF0000"/>
                </a:solidFill>
              </a:rPr>
              <a:t>int64</a:t>
            </a:r>
            <a:r>
              <a:rPr lang="en-IN" sz="1500" dirty="0"/>
              <a:t>  </a:t>
            </a:r>
          </a:p>
          <a:p>
            <a:r>
              <a:rPr lang="en-IN" sz="1500" dirty="0"/>
              <a:t>Worksite_2 </a:t>
            </a:r>
            <a:r>
              <a:rPr lang="en-IN" sz="1500" dirty="0">
                <a:solidFill>
                  <a:srgbClr val="FF0000"/>
                </a:solidFill>
              </a:rPr>
              <a:t>int64</a:t>
            </a:r>
            <a:r>
              <a:rPr lang="en-IN" sz="1500" dirty="0"/>
              <a:t>  </a:t>
            </a:r>
          </a:p>
          <a:p>
            <a:r>
              <a:rPr lang="en-IN" sz="1500" dirty="0"/>
              <a:t>Worksite_3 </a:t>
            </a:r>
            <a:r>
              <a:rPr lang="en-IN" sz="1500" dirty="0">
                <a:solidFill>
                  <a:srgbClr val="FF0000"/>
                </a:solidFill>
              </a:rPr>
              <a:t>int64</a:t>
            </a:r>
            <a:r>
              <a:rPr lang="en-IN" sz="1500" dirty="0"/>
              <a:t>  </a:t>
            </a:r>
          </a:p>
          <a:p>
            <a:r>
              <a:rPr lang="en-IN" sz="1500" dirty="0"/>
              <a:t>Worksite_4 </a:t>
            </a:r>
            <a:r>
              <a:rPr lang="en-IN" sz="1500" dirty="0">
                <a:solidFill>
                  <a:srgbClr val="FF0000"/>
                </a:solidFill>
              </a:rPr>
              <a:t>int64</a:t>
            </a:r>
            <a:r>
              <a:rPr lang="en-IN" sz="1500" dirty="0"/>
              <a:t>  </a:t>
            </a:r>
          </a:p>
          <a:p>
            <a:r>
              <a:rPr lang="en-IN" sz="1500" dirty="0"/>
              <a:t>YEAR_2011.0 </a:t>
            </a:r>
            <a:r>
              <a:rPr lang="en-IN" sz="1500" dirty="0">
                <a:solidFill>
                  <a:srgbClr val="FF0000"/>
                </a:solidFill>
              </a:rPr>
              <a:t>int64</a:t>
            </a:r>
            <a:r>
              <a:rPr lang="en-IN" sz="1500" dirty="0"/>
              <a:t>  </a:t>
            </a:r>
          </a:p>
          <a:p>
            <a:r>
              <a:rPr lang="en-IN" sz="1500" dirty="0"/>
              <a:t>YEAR_2012.0 </a:t>
            </a:r>
            <a:r>
              <a:rPr lang="en-IN" sz="1500" dirty="0">
                <a:solidFill>
                  <a:srgbClr val="FF0000"/>
                </a:solidFill>
              </a:rPr>
              <a:t>int64</a:t>
            </a:r>
            <a:r>
              <a:rPr lang="en-IN" sz="1500" dirty="0"/>
              <a:t>  </a:t>
            </a:r>
          </a:p>
          <a:p>
            <a:r>
              <a:rPr lang="en-IN" sz="1500" dirty="0"/>
              <a:t>YEAR_2013.0 </a:t>
            </a:r>
            <a:r>
              <a:rPr lang="en-IN" sz="1500" dirty="0">
                <a:solidFill>
                  <a:srgbClr val="FF0000"/>
                </a:solidFill>
              </a:rPr>
              <a:t>int64</a:t>
            </a:r>
            <a:r>
              <a:rPr lang="en-IN" sz="1500" dirty="0"/>
              <a:t>  </a:t>
            </a:r>
          </a:p>
          <a:p>
            <a:r>
              <a:rPr lang="en-IN" sz="1500" dirty="0"/>
              <a:t>YEAR_2014.0 </a:t>
            </a:r>
            <a:r>
              <a:rPr lang="en-IN" sz="1500" dirty="0">
                <a:solidFill>
                  <a:srgbClr val="FF0000"/>
                </a:solidFill>
              </a:rPr>
              <a:t>int64</a:t>
            </a:r>
            <a:r>
              <a:rPr lang="en-IN" sz="1500" dirty="0"/>
              <a:t>  </a:t>
            </a:r>
          </a:p>
          <a:p>
            <a:r>
              <a:rPr lang="en-IN" sz="1500" dirty="0"/>
              <a:t>YEAR_2015.0 </a:t>
            </a:r>
            <a:r>
              <a:rPr lang="en-IN" sz="1500" dirty="0">
                <a:solidFill>
                  <a:srgbClr val="FF0000"/>
                </a:solidFill>
              </a:rPr>
              <a:t>int64</a:t>
            </a:r>
            <a:r>
              <a:rPr lang="en-IN" sz="1500" dirty="0"/>
              <a:t>  </a:t>
            </a:r>
          </a:p>
          <a:p>
            <a:r>
              <a:rPr lang="en-IN" sz="1500" dirty="0"/>
              <a:t>YEAR_2016.0 </a:t>
            </a:r>
            <a:r>
              <a:rPr lang="en-IN" sz="1500" dirty="0">
                <a:solidFill>
                  <a:srgbClr val="FF0000"/>
                </a:solidFill>
              </a:rPr>
              <a:t>int64</a:t>
            </a:r>
            <a:r>
              <a:rPr lang="en-IN" sz="1500" dirty="0"/>
              <a:t>  </a:t>
            </a:r>
          </a:p>
          <a:p>
            <a:r>
              <a:rPr lang="en-IN" sz="1500" dirty="0"/>
              <a:t>OCCUPATION </a:t>
            </a:r>
            <a:r>
              <a:rPr lang="en-IN" sz="1500" dirty="0">
                <a:solidFill>
                  <a:srgbClr val="FF0000"/>
                </a:solidFill>
              </a:rPr>
              <a:t>category</a:t>
            </a:r>
            <a:r>
              <a:rPr lang="en-IN" sz="1500" dirty="0"/>
              <a:t>  </a:t>
            </a:r>
          </a:p>
          <a:p>
            <a:r>
              <a:rPr lang="en-IN" sz="1500" dirty="0"/>
              <a:t>WAGE </a:t>
            </a:r>
            <a:r>
              <a:rPr lang="en-IN" sz="1500" dirty="0">
                <a:solidFill>
                  <a:srgbClr val="FF0000"/>
                </a:solidFill>
              </a:rPr>
              <a:t>float64</a:t>
            </a:r>
            <a:r>
              <a:rPr lang="en-IN" sz="15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06177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8564E-DEB6-4A8D-BD2A-868B84100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Classifiers</a:t>
            </a:r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D760F0B-2428-4625-83A4-BAF1905679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9214677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64813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3FBA8-C994-4F9D-BFBB-D37799959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642" y="289624"/>
            <a:ext cx="10515600" cy="1325563"/>
          </a:xfrm>
        </p:spPr>
        <p:txBody>
          <a:bodyPr/>
          <a:lstStyle/>
          <a:p>
            <a:r>
              <a:rPr lang="en-IN" dirty="0"/>
              <a:t>Results for Unbalanced Dataset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885F259-F50D-46CC-AB69-5575259631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7816055"/>
              </p:ext>
            </p:extLst>
          </p:nvPr>
        </p:nvGraphicFramePr>
        <p:xfrm>
          <a:off x="838200" y="1825625"/>
          <a:ext cx="10515600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33647394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309227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5413136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551609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2902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0.9674684685551844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0.9669002444239287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0.9998745659583957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910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0.9674254748438974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0.9668902734983083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564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0.9674254747764484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0.9668902984859131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5599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Neural Network with 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0.9674298673834983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0.9668992843874984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0.98987456843892929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427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AdaBoost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0.9674282984849749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0.9668902984859131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846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Naïve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0.8927497729992653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0.9726828503709855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0.9143225765346755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5128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Linear 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0.9672201313556195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0.9668984095716463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0.9997590869994585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598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Linear SVM with 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0.9674254747764484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0.9668902984859131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236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0.9666207852460752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0.9669029503688683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0.999697365486923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68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Logistic Regression with 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0.9668902984859131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0.9668902984859131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182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3408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B7D9A-6254-4CBD-96FA-65C78890D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for balanced Dataset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E25A841-9C3B-4C9F-91D1-8B383154DF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8651943"/>
              </p:ext>
            </p:extLst>
          </p:nvPr>
        </p:nvGraphicFramePr>
        <p:xfrm>
          <a:off x="838200" y="1825625"/>
          <a:ext cx="10515600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67323810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4693204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586373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810791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Classifier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638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0.7155695413052107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0.7329932955727662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0.8454410612802693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4074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0.7058740148551341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0.7041604640418869 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0.9144709431195107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552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Neural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0.7007852809434711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0.7047329068064442 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0.9142042897855107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4905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Neural Network with 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0.7105871179905879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0.7291330177946939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0.8652067396630169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381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AdaBoost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0.7074686738107387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0.7311012032353025 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0.8526407012982684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8333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Naïve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0.6850796620740489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0.7287902799788695 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0.8047264303451495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024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Linear 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0.6538314339173329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0.6600286984215868 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0.9429028548572571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7541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Linear SVM with 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0.6780489879231162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0.7099698313102842 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0.8353915637551456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913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0.4621605148267846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0.70835734870317 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0.2662700198323417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978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Logistic Regression with 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0.6903881045529285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0.6901227871196804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0.9329533523323834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551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5455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ECC71D-86D6-485A-85B8-F703530A0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References		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78252-F58C-4E7E-B655-799F554A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IN" sz="900"/>
              <a:t>[1] D. Swain, K. Chakraborty, A. </a:t>
            </a:r>
            <a:r>
              <a:rPr lang="en-IN" sz="900" err="1"/>
              <a:t>Dombe</a:t>
            </a:r>
            <a:r>
              <a:rPr lang="en-IN" sz="900"/>
              <a:t>, A. </a:t>
            </a:r>
            <a:r>
              <a:rPr lang="en-IN" sz="900" err="1"/>
              <a:t>Ashture</a:t>
            </a:r>
            <a:r>
              <a:rPr lang="en-IN" sz="900"/>
              <a:t> and N. </a:t>
            </a:r>
            <a:r>
              <a:rPr lang="en-IN" sz="900" err="1"/>
              <a:t>Valakunde</a:t>
            </a:r>
            <a:r>
              <a:rPr lang="en-IN" sz="900"/>
              <a:t>,”Prediction of H1B Visa Using Machine Learning Algorithms,”2018 International Conference on Advanced Computation </a:t>
            </a:r>
            <a:r>
              <a:rPr lang="en-IN" sz="900" err="1"/>
              <a:t>andTelecommunication</a:t>
            </a:r>
            <a:r>
              <a:rPr lang="en-IN" sz="900"/>
              <a:t> (ICACAT), Bhopal, India, 2018, pp. 1-7.</a:t>
            </a:r>
          </a:p>
          <a:p>
            <a:r>
              <a:rPr lang="en-IN" sz="900"/>
              <a:t>[2] b Habeeb </a:t>
            </a:r>
            <a:r>
              <a:rPr lang="en-IN" sz="900" err="1"/>
              <a:t>Hooshmand</a:t>
            </a:r>
            <a:r>
              <a:rPr lang="en-IN" sz="900"/>
              <a:t>, Joseph Martinsen, Jonathan </a:t>
            </a:r>
            <a:r>
              <a:rPr lang="en-IN" sz="900" err="1"/>
              <a:t>Arauco</a:t>
            </a:r>
            <a:r>
              <a:rPr lang="en-IN" sz="900"/>
              <a:t>, </a:t>
            </a:r>
            <a:r>
              <a:rPr lang="en-IN" sz="900" err="1"/>
              <a:t>AlishahDholasaniya</a:t>
            </a:r>
            <a:r>
              <a:rPr lang="en-IN" sz="900"/>
              <a:t> and Bhavik Bhatt (2018) ”An Exploration of H-1B </a:t>
            </a:r>
            <a:r>
              <a:rPr lang="en-IN" sz="900" err="1"/>
              <a:t>VisaApplications</a:t>
            </a:r>
            <a:r>
              <a:rPr lang="en-IN" sz="900"/>
              <a:t> in the United States ”</a:t>
            </a:r>
          </a:p>
          <a:p>
            <a:r>
              <a:rPr lang="en-IN" sz="900"/>
              <a:t>[3] b Monica </a:t>
            </a:r>
            <a:r>
              <a:rPr lang="en-IN" sz="900" err="1"/>
              <a:t>Plechero</a:t>
            </a:r>
            <a:r>
              <a:rPr lang="en-IN" sz="900"/>
              <a:t>, Kulkarni Mandar, Cristina Chaminade, </a:t>
            </a:r>
            <a:r>
              <a:rPr lang="en-IN" sz="900" err="1"/>
              <a:t>ParthasarathyBalaji</a:t>
            </a:r>
            <a:r>
              <a:rPr lang="en-IN" sz="900"/>
              <a:t> (2019), ”Explaining the past, predicting the future: the </a:t>
            </a:r>
            <a:r>
              <a:rPr lang="en-IN" sz="900" err="1"/>
              <a:t>influenceof</a:t>
            </a:r>
            <a:r>
              <a:rPr lang="en-IN" sz="900"/>
              <a:t> regional trajectories on innovation networks of new industries </a:t>
            </a:r>
            <a:r>
              <a:rPr lang="en-IN" sz="900" err="1"/>
              <a:t>inemerging</a:t>
            </a:r>
            <a:r>
              <a:rPr lang="en-IN" sz="900"/>
              <a:t> economies”</a:t>
            </a:r>
          </a:p>
          <a:p>
            <a:r>
              <a:rPr lang="en-IN" sz="900"/>
              <a:t>[4] “H-1B Fiscal Year (FY) 2018 Cap Season,” USCIS. [Online]. </a:t>
            </a:r>
            <a:r>
              <a:rPr lang="en-IN" sz="900" err="1"/>
              <a:t>Available:https</a:t>
            </a:r>
            <a:r>
              <a:rPr lang="en-IN" sz="900"/>
              <a:t>://www. uscis.gov/working-united-states/temporary-workers/h-1b-specialty-occupationsand-fashion-models/h-1b-fiscal-year-fy-2018-cap-season. [Accessed: 20-Oct-2017].</a:t>
            </a:r>
          </a:p>
          <a:p>
            <a:r>
              <a:rPr lang="en-IN" sz="900"/>
              <a:t>[5] “High-skilled visa applications hit record high,” CNNMoney. [Online].Available: http: //money.cnn.com/2016/04/12/technology/h1b-cap-visa-fy-2017/index.html. [Accessed: 20-Oct-2017</a:t>
            </a:r>
          </a:p>
          <a:p>
            <a:r>
              <a:rPr lang="en-IN" sz="900"/>
              <a:t>[6]“Predicting Case Status of H-1B Visa Petitions.” [Online]. </a:t>
            </a:r>
            <a:r>
              <a:rPr lang="en-IN" sz="900" err="1"/>
              <a:t>Available:https</a:t>
            </a:r>
            <a:r>
              <a:rPr lang="en-IN" sz="900"/>
              <a:t>://</a:t>
            </a:r>
            <a:r>
              <a:rPr lang="en-IN" sz="900" err="1"/>
              <a:t>cseweb</a:t>
            </a:r>
            <a:r>
              <a:rPr lang="en-IN" sz="900"/>
              <a:t>. ucsd.edu/classes/wi17/cse258-a/reports/a054.pdf.</a:t>
            </a:r>
          </a:p>
          <a:p>
            <a:r>
              <a:rPr lang="en-IN" sz="900"/>
              <a:t>[7] H-1B Visa Petitions 2011-2016 — Kaggle. [Online]. </a:t>
            </a:r>
            <a:r>
              <a:rPr lang="en-IN" sz="900" err="1"/>
              <a:t>Available:https</a:t>
            </a:r>
            <a:r>
              <a:rPr lang="en-IN" sz="900"/>
              <a:t>://www.kaggle. com/</a:t>
            </a:r>
            <a:r>
              <a:rPr lang="en-IN" sz="900" err="1"/>
              <a:t>nsharan</a:t>
            </a:r>
            <a:r>
              <a:rPr lang="en-IN" sz="900"/>
              <a:t>/h-1b-visa/data. [Accessed: 20-Oct-2017].</a:t>
            </a:r>
          </a:p>
          <a:p>
            <a:r>
              <a:rPr lang="en-IN" sz="900"/>
              <a:t>[8] “Using Text Analysis To Predict H-1B Wages,” The OfficialBlogofBigML.com,01-Oct2013.[Online].</a:t>
            </a:r>
            <a:r>
              <a:rPr lang="en-IN" sz="900" err="1"/>
              <a:t>Available:https</a:t>
            </a:r>
            <a:r>
              <a:rPr lang="en-IN" sz="900"/>
              <a:t>://blog.bigml.com/2013/10/01/using-text-analysisto-predict-h1-b-wages/ . [Accessed: 20-Oct-2017].</a:t>
            </a:r>
          </a:p>
          <a:p>
            <a:r>
              <a:rPr lang="en-IN" sz="900"/>
              <a:t>[9] Pooja Thakur , Mandeep Singh , Harpreet Singh , Prashant Singh </a:t>
            </a:r>
            <a:r>
              <a:rPr lang="en-IN" sz="900" err="1"/>
              <a:t>Rana,”An</a:t>
            </a:r>
            <a:r>
              <a:rPr lang="en-IN" sz="900"/>
              <a:t> allotment of H1B work visa in USA using machine learning. ”</a:t>
            </a:r>
          </a:p>
          <a:p>
            <a:r>
              <a:rPr lang="en-IN" sz="900"/>
              <a:t>[10] </a:t>
            </a:r>
            <a:r>
              <a:rPr lang="en-IN" sz="900" err="1"/>
              <a:t>Dhanasekar</a:t>
            </a:r>
            <a:r>
              <a:rPr lang="en-IN" sz="900"/>
              <a:t> </a:t>
            </a:r>
            <a:r>
              <a:rPr lang="en-IN" sz="900" err="1"/>
              <a:t>Sundararaman</a:t>
            </a:r>
            <a:r>
              <a:rPr lang="en-IN" sz="900"/>
              <a:t> , </a:t>
            </a:r>
            <a:r>
              <a:rPr lang="en-IN" sz="900" err="1"/>
              <a:t>Nabarun</a:t>
            </a:r>
            <a:r>
              <a:rPr lang="en-IN" sz="900"/>
              <a:t> Pal , Aashish Kumar </a:t>
            </a:r>
            <a:r>
              <a:rPr lang="en-IN" sz="900" err="1"/>
              <a:t>Misraa</a:t>
            </a:r>
            <a:r>
              <a:rPr lang="en-IN" sz="900"/>
              <a:t>,(2017),” An analysis of </a:t>
            </a:r>
            <a:r>
              <a:rPr lang="en-IN" sz="900" err="1"/>
              <a:t>nonimmigrant</a:t>
            </a:r>
            <a:r>
              <a:rPr lang="en-IN" sz="900"/>
              <a:t> work visas in the USA </a:t>
            </a:r>
            <a:r>
              <a:rPr lang="en-IN" sz="900" err="1"/>
              <a:t>usingMachine</a:t>
            </a:r>
            <a:r>
              <a:rPr lang="en-IN" sz="900"/>
              <a:t> Learning” ”, International Journal of Computer Science </a:t>
            </a:r>
            <a:r>
              <a:rPr lang="en-IN" sz="900" err="1"/>
              <a:t>andSecurity</a:t>
            </a:r>
            <a:r>
              <a:rPr lang="en-IN" sz="900"/>
              <a:t>(IJCSS), Vol. 6,</a:t>
            </a:r>
          </a:p>
          <a:p>
            <a:r>
              <a:rPr lang="en-IN" sz="900"/>
              <a:t>[11] </a:t>
            </a:r>
            <a:r>
              <a:rPr lang="en-IN" sz="900">
                <a:hlinkClick r:id="rId2"/>
              </a:rPr>
              <a:t>https://www.foreignlaborcert.doleta.gov</a:t>
            </a:r>
            <a:endParaRPr lang="en-IN" sz="900"/>
          </a:p>
          <a:p>
            <a:r>
              <a:rPr lang="en-IN" sz="900"/>
              <a:t>[12] KaggleH-1Bdatasetwith6yearsofvisainformation,https://www.kaggle.com/nsharan/h-1b-visa13outsourcingcompanies took nearly one-third of all H-1B visas in 2014,https://www.nytimes.com/interactive/2015/11/06</a:t>
            </a:r>
          </a:p>
          <a:p>
            <a:r>
              <a:rPr lang="en-IN" sz="900"/>
              <a:t>[13] Disney ’forced 250 of its American IT workers to train up the </a:t>
            </a:r>
            <a:r>
              <a:rPr lang="en-IN" sz="900" err="1"/>
              <a:t>Indianworkers</a:t>
            </a:r>
            <a:r>
              <a:rPr lang="en-IN" sz="900"/>
              <a:t> who replaced them’, http://www.dailymail.co.uk/news/article-4037392/Disney-fired250-American-workers-replaced-Indian-staff-visas-suit-says.html 2016</a:t>
            </a:r>
          </a:p>
          <a:p>
            <a:r>
              <a:rPr lang="en-IN" sz="900"/>
              <a:t>[14] </a:t>
            </a:r>
            <a:r>
              <a:rPr lang="en-IN" sz="900" err="1"/>
              <a:t>Pedregosa</a:t>
            </a:r>
            <a:r>
              <a:rPr lang="en-IN" sz="900"/>
              <a:t>, F., </a:t>
            </a:r>
            <a:r>
              <a:rPr lang="en-IN" sz="900" err="1"/>
              <a:t>Varoquaux</a:t>
            </a:r>
            <a:r>
              <a:rPr lang="en-IN" sz="900"/>
              <a:t>, G., </a:t>
            </a:r>
            <a:r>
              <a:rPr lang="en-IN" sz="900" err="1"/>
              <a:t>Gramfort</a:t>
            </a:r>
            <a:r>
              <a:rPr lang="en-IN" sz="900"/>
              <a:t>, A., Michel, V., </a:t>
            </a:r>
            <a:r>
              <a:rPr lang="en-IN" sz="900" err="1"/>
              <a:t>Thirion</a:t>
            </a:r>
            <a:r>
              <a:rPr lang="en-IN" sz="900"/>
              <a:t>, </a:t>
            </a:r>
            <a:r>
              <a:rPr lang="en-IN" sz="900" err="1"/>
              <a:t>B.,Grisel</a:t>
            </a:r>
            <a:r>
              <a:rPr lang="en-IN" sz="900"/>
              <a:t>, O., Blondel, M., </a:t>
            </a:r>
            <a:r>
              <a:rPr lang="en-IN" sz="900" err="1"/>
              <a:t>Prettenhofer</a:t>
            </a:r>
            <a:r>
              <a:rPr lang="en-IN" sz="900"/>
              <a:t>, P., Weiss, R., </a:t>
            </a:r>
            <a:r>
              <a:rPr lang="en-IN" sz="900" err="1"/>
              <a:t>Dubourg</a:t>
            </a:r>
            <a:r>
              <a:rPr lang="en-IN" sz="900"/>
              <a:t>, V. </a:t>
            </a:r>
            <a:r>
              <a:rPr lang="en-IN" sz="900" err="1"/>
              <a:t>andVanderplas</a:t>
            </a:r>
            <a:r>
              <a:rPr lang="en-IN" sz="900"/>
              <a:t>, J., Scikit-learn: Machine learning in Python. Journal </a:t>
            </a:r>
            <a:r>
              <a:rPr lang="en-IN" sz="900" err="1"/>
              <a:t>ofMachine</a:t>
            </a:r>
            <a:r>
              <a:rPr lang="en-IN" sz="900"/>
              <a:t> Learning Research, 12(Oct), pp.2825-2830, 2011</a:t>
            </a:r>
          </a:p>
          <a:p>
            <a:r>
              <a:rPr lang="en-IN" sz="900"/>
              <a:t>[15] </a:t>
            </a:r>
            <a:r>
              <a:rPr lang="en-IN" sz="900" err="1"/>
              <a:t>J.Ross</a:t>
            </a:r>
            <a:r>
              <a:rPr lang="en-IN" sz="900"/>
              <a:t> Quinlan, “C4.5: Programs for machine learning”, Elsevier, 2014.</a:t>
            </a:r>
          </a:p>
        </p:txBody>
      </p:sp>
    </p:spTree>
    <p:extLst>
      <p:ext uri="{BB962C8B-B14F-4D97-AF65-F5344CB8AC3E}">
        <p14:creationId xmlns:p14="http://schemas.microsoft.com/office/powerpoint/2010/main" val="14051528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404AA-9E1A-44E7-9BF4-4E66C89ED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815" y="798703"/>
            <a:ext cx="5221185" cy="30720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you.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Graphic 5" descr="Sunglasses Face with Solid Fill">
            <a:extLst>
              <a:ext uri="{FF2B5EF4-FFF2-40B4-BE49-F238E27FC236}">
                <a16:creationId xmlns:a16="http://schemas.microsoft.com/office/drawing/2014/main" id="{CC6E1219-A180-4428-B642-586EEF973E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3046" y="1209578"/>
            <a:ext cx="4055897" cy="4055897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818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1507</Words>
  <Application>Microsoft Office PowerPoint</Application>
  <PresentationFormat>Widescreen</PresentationFormat>
  <Paragraphs>246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Prediction of Work Visa or H1b Approval using various classification techniques</vt:lpstr>
      <vt:lpstr>     Abstract</vt:lpstr>
      <vt:lpstr>DataSet   </vt:lpstr>
      <vt:lpstr>Columns of the DataSet.</vt:lpstr>
      <vt:lpstr>CASE_STATUS Values</vt:lpstr>
      <vt:lpstr>EMPLOYER_NAME</vt:lpstr>
      <vt:lpstr>SOC_NAME</vt:lpstr>
      <vt:lpstr>JOB_TITLE</vt:lpstr>
      <vt:lpstr>FULL_TIME_POSITION</vt:lpstr>
      <vt:lpstr>PREVAILING_WAGE</vt:lpstr>
      <vt:lpstr>YEAR</vt:lpstr>
      <vt:lpstr>WORKSITE</vt:lpstr>
      <vt:lpstr>Missing_values</vt:lpstr>
      <vt:lpstr>Final Columns of Dataset.</vt:lpstr>
      <vt:lpstr>Classifiers</vt:lpstr>
      <vt:lpstr>Results for Unbalanced Dataset</vt:lpstr>
      <vt:lpstr>Results for balanced Dataset</vt:lpstr>
      <vt:lpstr>References  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Prediction of Work Visa or H1b Approval using various classification techniques</dc:title>
  <dc:creator>gopi chand kommineni</dc:creator>
  <cp:lastModifiedBy>gopi chand kommineni</cp:lastModifiedBy>
  <cp:revision>1</cp:revision>
  <dcterms:created xsi:type="dcterms:W3CDTF">2020-04-29T04:59:44Z</dcterms:created>
  <dcterms:modified xsi:type="dcterms:W3CDTF">2020-04-29T04:59:48Z</dcterms:modified>
</cp:coreProperties>
</file>